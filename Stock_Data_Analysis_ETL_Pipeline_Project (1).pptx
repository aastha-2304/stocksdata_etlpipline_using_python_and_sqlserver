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4" r:id="rId7"/>
    <p:sldId id="265" r:id="rId8"/>
    <p:sldId id="267" r:id="rId9"/>
    <p:sldId id="26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799" y="-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822960"/>
            <a:ext cx="12191695" cy="73152"/>
          </a:xfrm>
          <a:prstGeom prst="rect">
            <a:avLst/>
          </a:prstGeom>
          <a:solidFill>
            <a:srgbClr val="225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987552"/>
            <a:ext cx="12191695" cy="73152"/>
          </a:xfrm>
          <a:prstGeom prst="rect">
            <a:avLst/>
          </a:prstGeom>
          <a:solidFill>
            <a:srgbClr val="3C4E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52144"/>
            <a:ext cx="12191695" cy="73152"/>
          </a:xfrm>
          <a:prstGeom prst="rect">
            <a:avLst/>
          </a:prstGeom>
          <a:solidFill>
            <a:srgbClr val="7887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972800" cy="1569660"/>
          </a:xfrm>
          <a:prstGeom prst="rect">
            <a:avLst/>
          </a:prstGeom>
          <a:noFill/>
        </p:spPr>
        <p:txBody>
          <a:bodyPr wrap="square">
            <a:spAutoFit/>
          </a:bodyPr>
          <a:lstStyle/>
          <a:p>
            <a:r>
              <a:rPr sz="3200" b="1" dirty="0">
                <a:solidFill>
                  <a:srgbClr val="FFFFFF"/>
                </a:solidFill>
              </a:rPr>
              <a:t>Stock Data Analysis &amp; ETL Pipeline</a:t>
            </a:r>
            <a:endParaRPr lang="en-IN" sz="3200" b="1" dirty="0">
              <a:solidFill>
                <a:srgbClr val="FFFFFF"/>
              </a:solidFill>
            </a:endParaRPr>
          </a:p>
          <a:p>
            <a:r>
              <a:rPr lang="en-US" sz="3200" dirty="0">
                <a:solidFill>
                  <a:schemeClr val="bg1"/>
                </a:solidFill>
              </a:rPr>
              <a:t>Transforming Raw Stock Market Data into Actionable Business Insights through an End-to-End Analytics Pipeline</a:t>
            </a:r>
            <a:endParaRPr sz="3200" b="1" dirty="0">
              <a:solidFill>
                <a:schemeClr val="bg1"/>
              </a:solidFill>
            </a:endParaRPr>
          </a:p>
        </p:txBody>
      </p:sp>
      <p:sp>
        <p:nvSpPr>
          <p:cNvPr id="6" name="Rounded Rectangle 5"/>
          <p:cNvSpPr/>
          <p:nvPr/>
        </p:nvSpPr>
        <p:spPr>
          <a:xfrm>
            <a:off x="822960" y="4114800"/>
            <a:ext cx="2286000" cy="777240"/>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4251960"/>
            <a:ext cx="2286000" cy="457200"/>
          </a:xfrm>
          <a:prstGeom prst="rect">
            <a:avLst/>
          </a:prstGeom>
          <a:noFill/>
        </p:spPr>
        <p:txBody>
          <a:bodyPr wrap="none">
            <a:spAutoFit/>
          </a:bodyPr>
          <a:lstStyle/>
          <a:p>
            <a:pPr algn="ctr"/>
            <a:r>
              <a:rPr sz="1400" b="1">
                <a:solidFill>
                  <a:srgbClr val="0F2340"/>
                </a:solidFill>
              </a:rPr>
              <a:t>Stock Data</a:t>
            </a:r>
          </a:p>
        </p:txBody>
      </p:sp>
      <p:cxnSp>
        <p:nvCxnSpPr>
          <p:cNvPr id="8" name="Connector 7"/>
          <p:cNvCxnSpPr/>
          <p:nvPr/>
        </p:nvCxnSpPr>
        <p:spPr>
          <a:xfrm>
            <a:off x="3154680" y="4498848"/>
            <a:ext cx="685800" cy="0"/>
          </a:xfrm>
          <a:prstGeom prst="line">
            <a:avLst/>
          </a:prstGeom>
          <a:ln w="25400">
            <a:solidFill>
              <a:srgbClr val="C8CED6"/>
            </a:solidFill>
          </a:ln>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3611880" y="4343400"/>
            <a:ext cx="320040" cy="320040"/>
          </a:xfrm>
          <a:prstGeom prst="chevron">
            <a:avLst/>
          </a:prstGeom>
          <a:solidFill>
            <a:srgbClr val="225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434840" y="4114800"/>
            <a:ext cx="2286000" cy="777240"/>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34840" y="4251960"/>
            <a:ext cx="2286000" cy="457200"/>
          </a:xfrm>
          <a:prstGeom prst="rect">
            <a:avLst/>
          </a:prstGeom>
          <a:noFill/>
        </p:spPr>
        <p:txBody>
          <a:bodyPr wrap="none">
            <a:spAutoFit/>
          </a:bodyPr>
          <a:lstStyle/>
          <a:p>
            <a:pPr algn="ctr"/>
            <a:r>
              <a:rPr sz="1400" b="1">
                <a:solidFill>
                  <a:srgbClr val="0F2340"/>
                </a:solidFill>
              </a:rPr>
              <a:t>ETL Layer</a:t>
            </a:r>
          </a:p>
        </p:txBody>
      </p:sp>
      <p:cxnSp>
        <p:nvCxnSpPr>
          <p:cNvPr id="12" name="Connector 11"/>
          <p:cNvCxnSpPr/>
          <p:nvPr/>
        </p:nvCxnSpPr>
        <p:spPr>
          <a:xfrm>
            <a:off x="6766560" y="4498848"/>
            <a:ext cx="685800" cy="0"/>
          </a:xfrm>
          <a:prstGeom prst="line">
            <a:avLst/>
          </a:prstGeom>
          <a:ln w="25400">
            <a:solidFill>
              <a:srgbClr val="C8CED6"/>
            </a:solidFill>
          </a:ln>
        </p:spPr>
        <p:style>
          <a:lnRef idx="2">
            <a:schemeClr val="accent1"/>
          </a:lnRef>
          <a:fillRef idx="0">
            <a:schemeClr val="accent1"/>
          </a:fillRef>
          <a:effectRef idx="1">
            <a:schemeClr val="accent1"/>
          </a:effectRef>
          <a:fontRef idx="minor">
            <a:schemeClr val="tx1"/>
          </a:fontRef>
        </p:style>
      </p:cxnSp>
      <p:sp>
        <p:nvSpPr>
          <p:cNvPr id="13" name="Chevron 12"/>
          <p:cNvSpPr/>
          <p:nvPr/>
        </p:nvSpPr>
        <p:spPr>
          <a:xfrm>
            <a:off x="7223760" y="4343400"/>
            <a:ext cx="320040" cy="320040"/>
          </a:xfrm>
          <a:prstGeom prst="chevron">
            <a:avLst/>
          </a:prstGeom>
          <a:solidFill>
            <a:srgbClr val="225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046720" y="4114800"/>
            <a:ext cx="2286000" cy="777240"/>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046720" y="4251960"/>
            <a:ext cx="2286000" cy="457200"/>
          </a:xfrm>
          <a:prstGeom prst="rect">
            <a:avLst/>
          </a:prstGeom>
          <a:noFill/>
        </p:spPr>
        <p:txBody>
          <a:bodyPr wrap="none">
            <a:spAutoFit/>
          </a:bodyPr>
          <a:lstStyle/>
          <a:p>
            <a:pPr algn="ctr"/>
            <a:r>
              <a:rPr sz="1400" b="1">
                <a:solidFill>
                  <a:srgbClr val="0F2340"/>
                </a:solidFill>
              </a:rPr>
              <a:t>Analytics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0F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2380139" cy="615553"/>
          </a:xfrm>
          <a:prstGeom prst="rect">
            <a:avLst/>
          </a:prstGeom>
          <a:noFill/>
        </p:spPr>
        <p:txBody>
          <a:bodyPr wrap="none">
            <a:spAutoFit/>
          </a:bodyPr>
          <a:lstStyle/>
          <a:p>
            <a:r>
              <a:rPr sz="2400" b="1" dirty="0">
                <a:solidFill>
                  <a:srgbClr val="FFFFFF"/>
                </a:solidFill>
              </a:rPr>
              <a:t>Project Overview</a:t>
            </a:r>
          </a:p>
          <a:p>
            <a:endParaRPr sz="1000" dirty="0">
              <a:solidFill>
                <a:srgbClr val="C8CED6"/>
              </a:solidFill>
            </a:endParaRP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2</a:t>
            </a:r>
          </a:p>
        </p:txBody>
      </p:sp>
      <p:sp>
        <p:nvSpPr>
          <p:cNvPr id="5" name="Rounded Rectangle 4"/>
          <p:cNvSpPr/>
          <p:nvPr/>
        </p:nvSpPr>
        <p:spPr>
          <a:xfrm>
            <a:off x="294249" y="1005840"/>
            <a:ext cx="11184519" cy="5440679"/>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Rectangle 5"/>
          <p:cNvSpPr/>
          <p:nvPr/>
        </p:nvSpPr>
        <p:spPr>
          <a:xfrm flipV="1">
            <a:off x="548640" y="822961"/>
            <a:ext cx="10835640" cy="45719"/>
          </a:xfrm>
          <a:prstGeom prst="rect">
            <a:avLst/>
          </a:prstGeom>
          <a:solidFill>
            <a:srgbClr val="225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0322" y="1170432"/>
            <a:ext cx="10671048" cy="4431983"/>
          </a:xfrm>
          <a:prstGeom prst="rect">
            <a:avLst/>
          </a:prstGeom>
          <a:noFill/>
        </p:spPr>
        <p:txBody>
          <a:bodyPr wrap="square">
            <a:spAutoFit/>
          </a:bodyPr>
          <a:lstStyle/>
          <a:p>
            <a:r>
              <a:rPr lang="en-IN" sz="3200" b="1" dirty="0">
                <a:solidFill>
                  <a:srgbClr val="0F2340"/>
                </a:solidFill>
              </a:rPr>
              <a:t>OBJECTIVE</a:t>
            </a:r>
          </a:p>
          <a:p>
            <a:endParaRPr lang="en-IN" sz="1600" b="1" dirty="0">
              <a:solidFill>
                <a:srgbClr val="0F2340"/>
              </a:solidFill>
            </a:endParaRPr>
          </a:p>
          <a:p>
            <a:r>
              <a:rPr lang="en-US" sz="1600" dirty="0"/>
              <a:t>The </a:t>
            </a:r>
            <a:r>
              <a:rPr lang="en-US" sz="1600" b="1" dirty="0"/>
              <a:t>Stock Market Data Analytics Pipeline</a:t>
            </a:r>
            <a:r>
              <a:rPr lang="en-US" sz="1600" dirty="0"/>
              <a:t> is designed to automate the collection, processing, analysis, and visualization of historical stock market data. The project integrates </a:t>
            </a:r>
            <a:r>
              <a:rPr lang="en-US" sz="1600" b="1" dirty="0"/>
              <a:t>Python</a:t>
            </a:r>
            <a:r>
              <a:rPr lang="en-US" sz="1600" dirty="0"/>
              <a:t>, </a:t>
            </a:r>
            <a:r>
              <a:rPr lang="en-US" sz="1600" b="1" dirty="0"/>
              <a:t>Yahoo Finance API</a:t>
            </a:r>
            <a:r>
              <a:rPr lang="en-US" sz="1600" dirty="0"/>
              <a:t>, </a:t>
            </a:r>
            <a:r>
              <a:rPr lang="en-US" sz="1600" b="1" dirty="0"/>
              <a:t>SQL Server</a:t>
            </a:r>
            <a:r>
              <a:rPr lang="en-US" sz="1600" dirty="0"/>
              <a:t>, and </a:t>
            </a:r>
            <a:r>
              <a:rPr lang="en-US" sz="1600" b="1" dirty="0"/>
              <a:t>Power BI</a:t>
            </a:r>
            <a:r>
              <a:rPr lang="en-US" sz="1600" dirty="0"/>
              <a:t> to build a centralized analytics solution that transforms raw market data into meaningful business insights.</a:t>
            </a:r>
          </a:p>
          <a:p>
            <a:endParaRPr lang="en-US" sz="1600" b="1" dirty="0">
              <a:solidFill>
                <a:srgbClr val="0F2340"/>
              </a:solidFill>
            </a:endParaRPr>
          </a:p>
          <a:p>
            <a:r>
              <a:rPr lang="en-IN" sz="1600" dirty="0"/>
              <a:t>The pipeline performs data extraction, cleaning, validation, storage, SQL-based analysis, and interactive dashboard visualization, enabling users to monitor stock performance, identify market trends, and support data-driven investment decisions.</a:t>
            </a:r>
            <a:endParaRPr sz="1600" b="1" dirty="0">
              <a:solidFill>
                <a:srgbClr val="0F2340"/>
              </a:solidFill>
            </a:endParaRPr>
          </a:p>
          <a:p>
            <a:endParaRPr lang="en-IN" sz="1200" dirty="0">
              <a:solidFill>
                <a:srgbClr val="1F2937"/>
              </a:solidFill>
            </a:endParaRPr>
          </a:p>
          <a:p>
            <a:r>
              <a:rPr lang="en-IN" b="1" dirty="0"/>
              <a:t>Technology Stack</a:t>
            </a:r>
          </a:p>
          <a:p>
            <a:r>
              <a:rPr lang="en-IN" sz="1600" b="1" dirty="0"/>
              <a:t>Data Source:</a:t>
            </a:r>
            <a:r>
              <a:rPr lang="en-IN" sz="1600" dirty="0"/>
              <a:t> Yahoo Finance API </a:t>
            </a:r>
          </a:p>
          <a:p>
            <a:r>
              <a:rPr lang="en-IN" sz="1600" b="1" dirty="0"/>
              <a:t>Programming:</a:t>
            </a:r>
            <a:r>
              <a:rPr lang="en-IN" sz="1600" dirty="0"/>
              <a:t> Python (Pandas, NumPy, </a:t>
            </a:r>
            <a:r>
              <a:rPr lang="en-IN" sz="1600" dirty="0" err="1"/>
              <a:t>yFinance</a:t>
            </a:r>
            <a:r>
              <a:rPr lang="en-IN" sz="1600" dirty="0"/>
              <a:t>) </a:t>
            </a:r>
          </a:p>
          <a:p>
            <a:r>
              <a:rPr lang="en-IN" sz="1600" b="1" dirty="0"/>
              <a:t>Database:</a:t>
            </a:r>
            <a:r>
              <a:rPr lang="en-IN" sz="1600" dirty="0"/>
              <a:t> SQL Server </a:t>
            </a:r>
          </a:p>
          <a:p>
            <a:r>
              <a:rPr lang="en-IN" sz="1600" b="1" dirty="0"/>
              <a:t>Query Language:</a:t>
            </a:r>
            <a:r>
              <a:rPr lang="en-IN" sz="1600" dirty="0"/>
              <a:t> SQL </a:t>
            </a:r>
          </a:p>
          <a:p>
            <a:r>
              <a:rPr lang="en-IN" sz="1600" b="1" dirty="0"/>
              <a:t>Visualization:</a:t>
            </a:r>
            <a:r>
              <a:rPr lang="en-IN" sz="1600" dirty="0"/>
              <a:t> Power BI</a:t>
            </a:r>
          </a:p>
          <a:p>
            <a:endParaRPr sz="1200" dirty="0">
              <a:solidFill>
                <a:srgbClr val="1F2937"/>
              </a:solidFill>
            </a:endParaRPr>
          </a:p>
        </p:txBody>
      </p:sp>
      <p:sp>
        <p:nvSpPr>
          <p:cNvPr id="15" name="Rectangle 14"/>
          <p:cNvSpPr/>
          <p:nvPr/>
        </p:nvSpPr>
        <p:spPr>
          <a:xfrm>
            <a:off x="0" y="9146"/>
            <a:ext cx="12192000" cy="210308"/>
          </a:xfrm>
          <a:prstGeom prst="rect">
            <a:avLst/>
          </a:prstGeom>
          <a:solidFill>
            <a:srgbClr val="228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flipV="1">
            <a:off x="-1" y="6629400"/>
            <a:ext cx="12191695" cy="219454"/>
          </a:xfrm>
          <a:prstGeom prst="rect">
            <a:avLst/>
          </a:prstGeom>
          <a:solidFill>
            <a:srgbClr val="D7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0F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5507918" cy="461665"/>
          </a:xfrm>
          <a:prstGeom prst="rect">
            <a:avLst/>
          </a:prstGeom>
          <a:noFill/>
        </p:spPr>
        <p:txBody>
          <a:bodyPr wrap="none">
            <a:spAutoFit/>
          </a:bodyPr>
          <a:lstStyle/>
          <a:p>
            <a:r>
              <a:rPr lang="en-US" sz="2400" b="1" dirty="0">
                <a:solidFill>
                  <a:srgbClr val="FFFFFF"/>
                </a:solidFill>
              </a:rPr>
              <a:t>C</a:t>
            </a:r>
            <a:r>
              <a:rPr lang="en-IN" sz="2400" b="1" dirty="0">
                <a:solidFill>
                  <a:srgbClr val="FFFFFF"/>
                </a:solidFill>
              </a:rPr>
              <a:t>HANLLENGES AND STARTEGIC SOLUTION</a:t>
            </a:r>
            <a:endParaRPr sz="1000" dirty="0">
              <a:solidFill>
                <a:srgbClr val="C8CED6"/>
              </a:solidFill>
            </a:endParaRP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3</a:t>
            </a:r>
          </a:p>
        </p:txBody>
      </p:sp>
      <p:sp>
        <p:nvSpPr>
          <p:cNvPr id="5" name="TextBox 4"/>
          <p:cNvSpPr txBox="1"/>
          <p:nvPr/>
        </p:nvSpPr>
        <p:spPr>
          <a:xfrm>
            <a:off x="640080" y="1097280"/>
            <a:ext cx="5303520" cy="4389120"/>
          </a:xfrm>
          <a:prstGeom prst="rect">
            <a:avLst/>
          </a:prstGeom>
          <a:noFill/>
        </p:spPr>
        <p:txBody>
          <a:bodyPr wrap="square">
            <a:spAutoFit/>
          </a:bodyPr>
          <a:lstStyle/>
          <a:p>
            <a:pPr>
              <a:spcAft>
                <a:spcPts val="800"/>
              </a:spcAft>
              <a:defRPr sz="1800">
                <a:solidFill>
                  <a:srgbClr val="1F2937"/>
                </a:solidFill>
              </a:defRPr>
            </a:pPr>
            <a:r>
              <a:rPr dirty="0"/>
              <a:t>Stock data arrives from multiple sources with inconsistent formats, missing values, and different timestamps.</a:t>
            </a:r>
          </a:p>
          <a:p>
            <a:pPr>
              <a:spcAft>
                <a:spcPts val="800"/>
              </a:spcAft>
              <a:defRPr sz="1800">
                <a:solidFill>
                  <a:srgbClr val="1F2937"/>
                </a:solidFill>
              </a:defRPr>
            </a:pPr>
            <a:r>
              <a:rPr dirty="0"/>
              <a:t>Manual cleaning slows analysis and creates avoidable errors in reporting and downstream modeling.</a:t>
            </a:r>
          </a:p>
          <a:p>
            <a:pPr>
              <a:spcAft>
                <a:spcPts val="800"/>
              </a:spcAft>
              <a:defRPr sz="1800">
                <a:solidFill>
                  <a:srgbClr val="1F2937"/>
                </a:solidFill>
              </a:defRPr>
            </a:pPr>
            <a:r>
              <a:rPr dirty="0"/>
              <a:t>Without a controlled ETL process, data quality issues can silently distort trend analysis and business decisions.</a:t>
            </a:r>
          </a:p>
        </p:txBody>
      </p:sp>
      <p:sp>
        <p:nvSpPr>
          <p:cNvPr id="6" name="Rounded Rectangle 5"/>
          <p:cNvSpPr/>
          <p:nvPr/>
        </p:nvSpPr>
        <p:spPr>
          <a:xfrm>
            <a:off x="240675" y="1128193"/>
            <a:ext cx="11792712" cy="5083126"/>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t>Business Problem</a:t>
            </a:r>
          </a:p>
          <a:p>
            <a:r>
              <a:rPr lang="en-US" dirty="0"/>
              <a:t>Investors, analysts, and financial institutions rely on accurate historical stock market data to evaluate company performance and make informed investment decisions. However, market data is often spread across multiple sources and requires significant manual effort to collect, clean, and analyze.</a:t>
            </a:r>
          </a:p>
          <a:p>
            <a:pPr algn="ctr"/>
            <a:endParaRPr dirty="0"/>
          </a:p>
        </p:txBody>
      </p:sp>
      <p:sp>
        <p:nvSpPr>
          <p:cNvPr id="7" name="Rectangle 6"/>
          <p:cNvSpPr/>
          <p:nvPr/>
        </p:nvSpPr>
        <p:spPr>
          <a:xfrm>
            <a:off x="0" y="691824"/>
            <a:ext cx="12274062" cy="161687"/>
          </a:xfrm>
          <a:prstGeom prst="rect">
            <a:avLst/>
          </a:prstGeom>
          <a:solidFill>
            <a:srgbClr val="B4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flipV="1">
            <a:off x="-82062" y="6486001"/>
            <a:ext cx="12274062" cy="371999"/>
          </a:xfrm>
          <a:prstGeom prst="rect">
            <a:avLst/>
          </a:prstGeom>
          <a:solidFill>
            <a:srgbClr val="228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5" name="Table 24">
            <a:extLst>
              <a:ext uri="{FF2B5EF4-FFF2-40B4-BE49-F238E27FC236}">
                <a16:creationId xmlns:a16="http://schemas.microsoft.com/office/drawing/2014/main" id="{BBA385BE-B4BE-6797-D978-0D82051F3909}"/>
              </a:ext>
            </a:extLst>
          </p:cNvPr>
          <p:cNvGraphicFramePr>
            <a:graphicFrameLocks noGrp="1"/>
          </p:cNvGraphicFramePr>
          <p:nvPr>
            <p:extLst>
              <p:ext uri="{D42A27DB-BD31-4B8C-83A1-F6EECF244321}">
                <p14:modId xmlns:p14="http://schemas.microsoft.com/office/powerpoint/2010/main" val="1298513850"/>
              </p:ext>
            </p:extLst>
          </p:nvPr>
        </p:nvGraphicFramePr>
        <p:xfrm>
          <a:off x="1389583" y="1757337"/>
          <a:ext cx="8229600" cy="3768544"/>
        </p:xfrm>
        <a:graphic>
          <a:graphicData uri="http://schemas.openxmlformats.org/drawingml/2006/table">
            <a:tbl>
              <a:tblPr/>
              <a:tblGrid>
                <a:gridCol w="4114800">
                  <a:extLst>
                    <a:ext uri="{9D8B030D-6E8A-4147-A177-3AD203B41FA5}">
                      <a16:colId xmlns:a16="http://schemas.microsoft.com/office/drawing/2014/main" val="1828373672"/>
                    </a:ext>
                  </a:extLst>
                </a:gridCol>
                <a:gridCol w="4114800">
                  <a:extLst>
                    <a:ext uri="{9D8B030D-6E8A-4147-A177-3AD203B41FA5}">
                      <a16:colId xmlns:a16="http://schemas.microsoft.com/office/drawing/2014/main" val="3795828334"/>
                    </a:ext>
                  </a:extLst>
                </a:gridCol>
              </a:tblGrid>
              <a:tr h="443358">
                <a:tc>
                  <a:txBody>
                    <a:bodyPr/>
                    <a:lstStyle/>
                    <a:p>
                      <a:pPr>
                        <a:buNone/>
                      </a:pPr>
                      <a:r>
                        <a:rPr lang="en-IN"/>
                        <a:t>Challenge</a:t>
                      </a:r>
                    </a:p>
                  </a:txBody>
                  <a:tcPr anchor="ctr">
                    <a:lnL>
                      <a:noFill/>
                    </a:lnL>
                    <a:lnR>
                      <a:noFill/>
                    </a:lnR>
                    <a:lnT>
                      <a:noFill/>
                    </a:lnT>
                    <a:lnB>
                      <a:noFill/>
                    </a:lnB>
                    <a:noFill/>
                  </a:tcPr>
                </a:tc>
                <a:tc>
                  <a:txBody>
                    <a:bodyPr/>
                    <a:lstStyle/>
                    <a:p>
                      <a:pPr>
                        <a:buNone/>
                      </a:pPr>
                      <a:r>
                        <a:rPr lang="en-IN"/>
                        <a:t>Solution</a:t>
                      </a:r>
                    </a:p>
                  </a:txBody>
                  <a:tcPr anchor="ctr">
                    <a:lnL>
                      <a:noFill/>
                    </a:lnL>
                    <a:lnR>
                      <a:noFill/>
                    </a:lnR>
                    <a:lnT>
                      <a:noFill/>
                    </a:lnT>
                    <a:lnB>
                      <a:noFill/>
                    </a:lnB>
                    <a:noFill/>
                  </a:tcPr>
                </a:tc>
                <a:extLst>
                  <a:ext uri="{0D108BD9-81ED-4DB2-BD59-A6C34878D82A}">
                    <a16:rowId xmlns:a16="http://schemas.microsoft.com/office/drawing/2014/main" val="2015793905"/>
                  </a:ext>
                </a:extLst>
              </a:tr>
              <a:tr h="443358">
                <a:tc>
                  <a:txBody>
                    <a:bodyPr/>
                    <a:lstStyle/>
                    <a:p>
                      <a:pPr>
                        <a:buNone/>
                      </a:pPr>
                      <a:r>
                        <a:rPr lang="en-IN" dirty="0"/>
                        <a:t>Manual data collection</a:t>
                      </a:r>
                    </a:p>
                  </a:txBody>
                  <a:tcPr anchor="ctr">
                    <a:lnL>
                      <a:noFill/>
                    </a:lnL>
                    <a:lnR>
                      <a:noFill/>
                    </a:lnR>
                    <a:lnT>
                      <a:noFill/>
                    </a:lnT>
                    <a:lnB>
                      <a:noFill/>
                    </a:lnB>
                    <a:noFill/>
                  </a:tcPr>
                </a:tc>
                <a:tc>
                  <a:txBody>
                    <a:bodyPr/>
                    <a:lstStyle/>
                    <a:p>
                      <a:pPr>
                        <a:buNone/>
                      </a:pPr>
                      <a:r>
                        <a:rPr lang="en-US"/>
                        <a:t>Automated data extraction using Python</a:t>
                      </a:r>
                    </a:p>
                  </a:txBody>
                  <a:tcPr anchor="ctr">
                    <a:lnL>
                      <a:noFill/>
                    </a:lnL>
                    <a:lnR>
                      <a:noFill/>
                    </a:lnR>
                    <a:lnT>
                      <a:noFill/>
                    </a:lnT>
                    <a:lnB>
                      <a:noFill/>
                    </a:lnB>
                    <a:noFill/>
                  </a:tcPr>
                </a:tc>
                <a:extLst>
                  <a:ext uri="{0D108BD9-81ED-4DB2-BD59-A6C34878D82A}">
                    <a16:rowId xmlns:a16="http://schemas.microsoft.com/office/drawing/2014/main" val="2144434868"/>
                  </a:ext>
                </a:extLst>
              </a:tr>
              <a:tr h="443358">
                <a:tc>
                  <a:txBody>
                    <a:bodyPr/>
                    <a:lstStyle/>
                    <a:p>
                      <a:pPr>
                        <a:buNone/>
                      </a:pPr>
                      <a:r>
                        <a:rPr lang="en-IN"/>
                        <a:t>Disorganized datasets</a:t>
                      </a:r>
                    </a:p>
                  </a:txBody>
                  <a:tcPr anchor="ctr">
                    <a:lnL>
                      <a:noFill/>
                    </a:lnL>
                    <a:lnR>
                      <a:noFill/>
                    </a:lnR>
                    <a:lnT>
                      <a:noFill/>
                    </a:lnT>
                    <a:lnB>
                      <a:noFill/>
                    </a:lnB>
                    <a:noFill/>
                  </a:tcPr>
                </a:tc>
                <a:tc>
                  <a:txBody>
                    <a:bodyPr/>
                    <a:lstStyle/>
                    <a:p>
                      <a:pPr>
                        <a:buNone/>
                      </a:pPr>
                      <a:r>
                        <a:rPr lang="en-IN"/>
                        <a:t>Centralized SQL Server database</a:t>
                      </a:r>
                    </a:p>
                  </a:txBody>
                  <a:tcPr anchor="ctr">
                    <a:lnL>
                      <a:noFill/>
                    </a:lnL>
                    <a:lnR>
                      <a:noFill/>
                    </a:lnR>
                    <a:lnT>
                      <a:noFill/>
                    </a:lnT>
                    <a:lnB>
                      <a:noFill/>
                    </a:lnB>
                    <a:noFill/>
                  </a:tcPr>
                </a:tc>
                <a:extLst>
                  <a:ext uri="{0D108BD9-81ED-4DB2-BD59-A6C34878D82A}">
                    <a16:rowId xmlns:a16="http://schemas.microsoft.com/office/drawing/2014/main" val="3439081735"/>
                  </a:ext>
                </a:extLst>
              </a:tr>
              <a:tr h="443358">
                <a:tc>
                  <a:txBody>
                    <a:bodyPr/>
                    <a:lstStyle/>
                    <a:p>
                      <a:pPr>
                        <a:buNone/>
                      </a:pPr>
                      <a:r>
                        <a:rPr lang="en-IN"/>
                        <a:t>Slow performance analysis</a:t>
                      </a:r>
                    </a:p>
                  </a:txBody>
                  <a:tcPr anchor="ctr">
                    <a:lnL>
                      <a:noFill/>
                    </a:lnL>
                    <a:lnR>
                      <a:noFill/>
                    </a:lnR>
                    <a:lnT>
                      <a:noFill/>
                    </a:lnT>
                    <a:lnB>
                      <a:noFill/>
                    </a:lnB>
                    <a:noFill/>
                  </a:tcPr>
                </a:tc>
                <a:tc>
                  <a:txBody>
                    <a:bodyPr/>
                    <a:lstStyle/>
                    <a:p>
                      <a:pPr>
                        <a:buNone/>
                      </a:pPr>
                      <a:r>
                        <a:rPr lang="en-IN"/>
                        <a:t>Optimized SQL analytical queries</a:t>
                      </a:r>
                    </a:p>
                  </a:txBody>
                  <a:tcPr anchor="ctr">
                    <a:lnL>
                      <a:noFill/>
                    </a:lnL>
                    <a:lnR>
                      <a:noFill/>
                    </a:lnR>
                    <a:lnT>
                      <a:noFill/>
                    </a:lnT>
                    <a:lnB>
                      <a:noFill/>
                    </a:lnB>
                    <a:noFill/>
                  </a:tcPr>
                </a:tc>
                <a:extLst>
                  <a:ext uri="{0D108BD9-81ED-4DB2-BD59-A6C34878D82A}">
                    <a16:rowId xmlns:a16="http://schemas.microsoft.com/office/drawing/2014/main" val="2411864575"/>
                  </a:ext>
                </a:extLst>
              </a:tr>
              <a:tr h="443358">
                <a:tc>
                  <a:txBody>
                    <a:bodyPr/>
                    <a:lstStyle/>
                    <a:p>
                      <a:pPr>
                        <a:buNone/>
                      </a:pPr>
                      <a:r>
                        <a:rPr lang="en-IN"/>
                        <a:t>Limited reporting capabilities</a:t>
                      </a:r>
                    </a:p>
                  </a:txBody>
                  <a:tcPr anchor="ctr">
                    <a:lnL>
                      <a:noFill/>
                    </a:lnL>
                    <a:lnR>
                      <a:noFill/>
                    </a:lnR>
                    <a:lnT>
                      <a:noFill/>
                    </a:lnT>
                    <a:lnB>
                      <a:noFill/>
                    </a:lnB>
                    <a:noFill/>
                  </a:tcPr>
                </a:tc>
                <a:tc>
                  <a:txBody>
                    <a:bodyPr/>
                    <a:lstStyle/>
                    <a:p>
                      <a:pPr>
                        <a:buNone/>
                      </a:pPr>
                      <a:r>
                        <a:rPr lang="en-IN"/>
                        <a:t>Interactive Power BI dashboards</a:t>
                      </a:r>
                    </a:p>
                  </a:txBody>
                  <a:tcPr anchor="ctr">
                    <a:lnL>
                      <a:noFill/>
                    </a:lnL>
                    <a:lnR>
                      <a:noFill/>
                    </a:lnR>
                    <a:lnT>
                      <a:noFill/>
                    </a:lnT>
                    <a:lnB>
                      <a:noFill/>
                    </a:lnB>
                    <a:noFill/>
                  </a:tcPr>
                </a:tc>
                <a:extLst>
                  <a:ext uri="{0D108BD9-81ED-4DB2-BD59-A6C34878D82A}">
                    <a16:rowId xmlns:a16="http://schemas.microsoft.com/office/drawing/2014/main" val="2609691996"/>
                  </a:ext>
                </a:extLst>
              </a:tr>
              <a:tr h="775877">
                <a:tc>
                  <a:txBody>
                    <a:bodyPr/>
                    <a:lstStyle/>
                    <a:p>
                      <a:pPr>
                        <a:buNone/>
                      </a:pPr>
                      <a:r>
                        <a:rPr lang="en-IN"/>
                        <a:t>Difficulty identifying market trends</a:t>
                      </a:r>
                    </a:p>
                  </a:txBody>
                  <a:tcPr anchor="ctr">
                    <a:lnL>
                      <a:noFill/>
                    </a:lnL>
                    <a:lnR>
                      <a:noFill/>
                    </a:lnR>
                    <a:lnT>
                      <a:noFill/>
                    </a:lnT>
                    <a:lnB>
                      <a:noFill/>
                    </a:lnB>
                    <a:noFill/>
                  </a:tcPr>
                </a:tc>
                <a:tc>
                  <a:txBody>
                    <a:bodyPr/>
                    <a:lstStyle/>
                    <a:p>
                      <a:pPr>
                        <a:buNone/>
                      </a:pPr>
                      <a:r>
                        <a:rPr lang="en-US"/>
                        <a:t>Automated trend and performance analysis</a:t>
                      </a:r>
                    </a:p>
                  </a:txBody>
                  <a:tcPr anchor="ctr">
                    <a:lnL>
                      <a:noFill/>
                    </a:lnL>
                    <a:lnR>
                      <a:noFill/>
                    </a:lnR>
                    <a:lnT>
                      <a:noFill/>
                    </a:lnT>
                    <a:lnB>
                      <a:noFill/>
                    </a:lnB>
                    <a:noFill/>
                  </a:tcPr>
                </a:tc>
                <a:extLst>
                  <a:ext uri="{0D108BD9-81ED-4DB2-BD59-A6C34878D82A}">
                    <a16:rowId xmlns:a16="http://schemas.microsoft.com/office/drawing/2014/main" val="354780587"/>
                  </a:ext>
                </a:extLst>
              </a:tr>
              <a:tr h="775877">
                <a:tc>
                  <a:txBody>
                    <a:bodyPr/>
                    <a:lstStyle/>
                    <a:p>
                      <a:pPr>
                        <a:buNone/>
                      </a:pPr>
                      <a:r>
                        <a:rPr lang="en-IN" dirty="0"/>
                        <a:t>Data quality issues</a:t>
                      </a:r>
                    </a:p>
                  </a:txBody>
                  <a:tcPr anchor="ctr">
                    <a:lnL>
                      <a:noFill/>
                    </a:lnL>
                    <a:lnR>
                      <a:noFill/>
                    </a:lnR>
                    <a:lnT>
                      <a:noFill/>
                    </a:lnT>
                    <a:lnB>
                      <a:noFill/>
                    </a:lnB>
                    <a:noFill/>
                  </a:tcPr>
                </a:tc>
                <a:tc>
                  <a:txBody>
                    <a:bodyPr/>
                    <a:lstStyle/>
                    <a:p>
                      <a:pPr>
                        <a:buNone/>
                      </a:pPr>
                      <a:r>
                        <a:rPr lang="en-US" dirty="0"/>
                        <a:t>Cleaning, validation, and standardization using Pandas</a:t>
                      </a:r>
                    </a:p>
                  </a:txBody>
                  <a:tcPr anchor="ctr">
                    <a:lnL>
                      <a:noFill/>
                    </a:lnL>
                    <a:lnR>
                      <a:noFill/>
                    </a:lnR>
                    <a:lnT>
                      <a:noFill/>
                    </a:lnT>
                    <a:lnB>
                      <a:noFill/>
                    </a:lnB>
                    <a:noFill/>
                  </a:tcPr>
                </a:tc>
                <a:extLst>
                  <a:ext uri="{0D108BD9-81ED-4DB2-BD59-A6C34878D82A}">
                    <a16:rowId xmlns:a16="http://schemas.microsoft.com/office/drawing/2014/main" val="1783192233"/>
                  </a:ext>
                </a:extLst>
              </a:tr>
            </a:tbl>
          </a:graphicData>
        </a:graphic>
      </p:graphicFrame>
      <p:sp>
        <p:nvSpPr>
          <p:cNvPr id="27" name="Rectangle 11">
            <a:extLst>
              <a:ext uri="{FF2B5EF4-FFF2-40B4-BE49-F238E27FC236}">
                <a16:creationId xmlns:a16="http://schemas.microsoft.com/office/drawing/2014/main" id="{F6CBEF47-25C6-F6BD-C686-E1CD9C180279}"/>
              </a:ext>
            </a:extLst>
          </p:cNvPr>
          <p:cNvSpPr>
            <a:spLocks noChangeArrowheads="1"/>
          </p:cNvSpPr>
          <p:nvPr/>
        </p:nvSpPr>
        <p:spPr bwMode="auto">
          <a:xfrm>
            <a:off x="670255" y="1675018"/>
            <a:ext cx="30008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3" name="TextBox 2"/>
          <p:cNvSpPr txBox="1"/>
          <p:nvPr/>
        </p:nvSpPr>
        <p:spPr>
          <a:xfrm>
            <a:off x="411480" y="109728"/>
            <a:ext cx="6919843" cy="461665"/>
          </a:xfrm>
          <a:prstGeom prst="rect">
            <a:avLst/>
          </a:prstGeom>
          <a:noFill/>
        </p:spPr>
        <p:txBody>
          <a:bodyPr wrap="none">
            <a:spAutoFit/>
          </a:bodyPr>
          <a:lstStyle/>
          <a:p>
            <a:r>
              <a:rPr lang="en-IN" sz="2400" dirty="0">
                <a:solidFill>
                  <a:schemeClr val="bg1"/>
                </a:solidFill>
              </a:rPr>
              <a:t>High-Level Architecture </a:t>
            </a:r>
            <a:r>
              <a:rPr lang="en-IN" sz="2400" b="1" dirty="0">
                <a:solidFill>
                  <a:schemeClr val="bg1"/>
                </a:solidFill>
              </a:rPr>
              <a:t> And </a:t>
            </a:r>
            <a:r>
              <a:rPr lang="en-IN" sz="2400" dirty="0">
                <a:solidFill>
                  <a:schemeClr val="bg1"/>
                </a:solidFill>
              </a:rPr>
              <a:t>Component Architecture</a:t>
            </a:r>
            <a:endParaRPr sz="2400" b="1" dirty="0">
              <a:solidFill>
                <a:schemeClr val="bg1"/>
              </a:solidFill>
            </a:endParaRP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4</a:t>
            </a:r>
          </a:p>
        </p:txBody>
      </p:sp>
      <p:sp>
        <p:nvSpPr>
          <p:cNvPr id="6" name="Rectangle 5"/>
          <p:cNvSpPr/>
          <p:nvPr/>
        </p:nvSpPr>
        <p:spPr>
          <a:xfrm>
            <a:off x="1" y="795528"/>
            <a:ext cx="12191694" cy="111252"/>
          </a:xfrm>
          <a:prstGeom prst="rect">
            <a:avLst/>
          </a:prstGeom>
          <a:solidFill>
            <a:srgbClr val="225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0" y="6629400"/>
            <a:ext cx="12326111" cy="219456"/>
          </a:xfrm>
          <a:prstGeom prst="rect">
            <a:avLst/>
          </a:prstGeom>
          <a:solidFill>
            <a:srgbClr val="4168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BAE05931-961B-6670-6B33-4A1A374CF92D}"/>
              </a:ext>
            </a:extLst>
          </p:cNvPr>
          <p:cNvSpPr txBox="1"/>
          <p:nvPr/>
        </p:nvSpPr>
        <p:spPr>
          <a:xfrm>
            <a:off x="411480" y="1153886"/>
            <a:ext cx="4998720" cy="4662815"/>
          </a:xfrm>
          <a:prstGeom prst="rect">
            <a:avLst/>
          </a:prstGeom>
          <a:noFill/>
        </p:spPr>
        <p:txBody>
          <a:bodyPr wrap="square" rtlCol="0">
            <a:spAutoFit/>
          </a:bodyPr>
          <a:lstStyle/>
          <a:p>
            <a:r>
              <a:rPr lang="en-IN" dirty="0"/>
              <a:t> </a:t>
            </a:r>
            <a:r>
              <a:rPr lang="en-IN" sz="900" dirty="0">
                <a:solidFill>
                  <a:schemeClr val="bg1"/>
                </a:solidFill>
              </a:rPr>
              <a:t>Yahoo Finance API</a:t>
            </a:r>
          </a:p>
          <a:p>
            <a:r>
              <a:rPr lang="en-IN" sz="900" dirty="0">
                <a:solidFill>
                  <a:schemeClr val="bg1"/>
                </a:solidFill>
              </a:rPr>
              <a:t>                           │</a:t>
            </a:r>
          </a:p>
          <a:p>
            <a:r>
              <a:rPr lang="en-IN" sz="900" dirty="0">
                <a:solidFill>
                  <a:schemeClr val="bg1"/>
                </a:solidFill>
              </a:rPr>
              <a:t>                    (Historical Data)</a:t>
            </a:r>
          </a:p>
          <a:p>
            <a:r>
              <a:rPr lang="en-IN" sz="900" dirty="0">
                <a:solidFill>
                  <a:schemeClr val="bg1"/>
                </a:solidFill>
              </a:rPr>
              <a:t>                           │</a:t>
            </a:r>
          </a:p>
          <a:p>
            <a:r>
              <a:rPr lang="en-IN" sz="900" dirty="0">
                <a:solidFill>
                  <a:schemeClr val="bg1"/>
                </a:solidFill>
              </a:rPr>
              <a:t>                           ▼</a:t>
            </a:r>
          </a:p>
          <a:p>
            <a:r>
              <a:rPr lang="en-IN" sz="900" dirty="0">
                <a:solidFill>
                  <a:schemeClr val="bg1"/>
                </a:solidFill>
              </a:rPr>
              <a:t>                 Python (</a:t>
            </a:r>
            <a:r>
              <a:rPr lang="en-IN" sz="900" dirty="0" err="1">
                <a:solidFill>
                  <a:schemeClr val="bg1"/>
                </a:solidFill>
              </a:rPr>
              <a:t>yfinance</a:t>
            </a:r>
            <a:r>
              <a:rPr lang="en-IN" sz="900" dirty="0">
                <a:solidFill>
                  <a:schemeClr val="bg1"/>
                </a:solidFill>
              </a:rPr>
              <a:t> Library)</a:t>
            </a:r>
          </a:p>
          <a:p>
            <a:r>
              <a:rPr lang="en-IN" sz="900" dirty="0">
                <a:solidFill>
                  <a:schemeClr val="bg1"/>
                </a:solidFill>
              </a:rPr>
              <a:t>                           │</a:t>
            </a:r>
          </a:p>
          <a:p>
            <a:r>
              <a:rPr lang="en-IN" sz="900" dirty="0">
                <a:solidFill>
                  <a:schemeClr val="bg1"/>
                </a:solidFill>
              </a:rPr>
              <a:t>                           ▼</a:t>
            </a:r>
          </a:p>
          <a:p>
            <a:r>
              <a:rPr lang="en-IN" sz="900" dirty="0">
                <a:solidFill>
                  <a:schemeClr val="bg1"/>
                </a:solidFill>
              </a:rPr>
              <a:t>                  Pandas Data Processing</a:t>
            </a:r>
          </a:p>
          <a:p>
            <a:r>
              <a:rPr lang="en-IN" sz="900" dirty="0">
                <a:solidFill>
                  <a:schemeClr val="bg1"/>
                </a:solidFill>
              </a:rPr>
              <a:t>         ┌───────────────────────────────────┐</a:t>
            </a:r>
          </a:p>
          <a:p>
            <a:r>
              <a:rPr lang="en-IN" sz="900" dirty="0">
                <a:solidFill>
                  <a:schemeClr val="bg1"/>
                </a:solidFill>
              </a:rPr>
              <a:t>         │                                   │</a:t>
            </a:r>
          </a:p>
          <a:p>
            <a:r>
              <a:rPr lang="en-IN" sz="900" dirty="0">
                <a:solidFill>
                  <a:schemeClr val="bg1"/>
                </a:solidFill>
              </a:rPr>
              <a:t>         │ Remove Missing Values             │</a:t>
            </a:r>
          </a:p>
          <a:p>
            <a:r>
              <a:rPr lang="en-IN" sz="900" dirty="0">
                <a:solidFill>
                  <a:schemeClr val="bg1"/>
                </a:solidFill>
              </a:rPr>
              <a:t>         │ Handle Data Types                 │</a:t>
            </a:r>
          </a:p>
          <a:p>
            <a:r>
              <a:rPr lang="en-IN" sz="900" dirty="0">
                <a:solidFill>
                  <a:schemeClr val="bg1"/>
                </a:solidFill>
              </a:rPr>
              <a:t>         │ Rename Columns                    │</a:t>
            </a:r>
          </a:p>
          <a:p>
            <a:r>
              <a:rPr lang="en-IN" sz="900" dirty="0">
                <a:solidFill>
                  <a:schemeClr val="bg1"/>
                </a:solidFill>
              </a:rPr>
              <a:t>         │ Merge Multiple Stocks             │</a:t>
            </a:r>
          </a:p>
          <a:p>
            <a:r>
              <a:rPr lang="en-IN" sz="900" dirty="0">
                <a:solidFill>
                  <a:schemeClr val="bg1"/>
                </a:solidFill>
              </a:rPr>
              <a:t>         │ Feature Engineering               │</a:t>
            </a:r>
          </a:p>
          <a:p>
            <a:r>
              <a:rPr lang="en-IN" sz="900" dirty="0">
                <a:solidFill>
                  <a:schemeClr val="bg1"/>
                </a:solidFill>
              </a:rPr>
              <a:t>         └───────────────────────────────────┘</a:t>
            </a:r>
          </a:p>
          <a:p>
            <a:r>
              <a:rPr lang="en-IN" sz="900" dirty="0">
                <a:solidFill>
                  <a:schemeClr val="bg1"/>
                </a:solidFill>
              </a:rPr>
              <a:t>                           │</a:t>
            </a:r>
          </a:p>
          <a:p>
            <a:r>
              <a:rPr lang="en-IN" sz="900" dirty="0">
                <a:solidFill>
                  <a:schemeClr val="bg1"/>
                </a:solidFill>
              </a:rPr>
              <a:t>                           ▼</a:t>
            </a:r>
          </a:p>
          <a:p>
            <a:r>
              <a:rPr lang="en-IN" sz="900" dirty="0">
                <a:solidFill>
                  <a:schemeClr val="bg1"/>
                </a:solidFill>
              </a:rPr>
              <a:t>                 stock_data_2024.csv</a:t>
            </a:r>
          </a:p>
          <a:p>
            <a:r>
              <a:rPr lang="en-IN" sz="900" dirty="0">
                <a:solidFill>
                  <a:schemeClr val="bg1"/>
                </a:solidFill>
              </a:rPr>
              <a:t>                           │</a:t>
            </a:r>
          </a:p>
          <a:p>
            <a:r>
              <a:rPr lang="en-IN" sz="900" dirty="0">
                <a:solidFill>
                  <a:schemeClr val="bg1"/>
                </a:solidFill>
              </a:rPr>
              <a:t>                           ▼</a:t>
            </a:r>
          </a:p>
          <a:p>
            <a:r>
              <a:rPr lang="en-IN" sz="900" dirty="0">
                <a:solidFill>
                  <a:schemeClr val="bg1"/>
                </a:solidFill>
              </a:rPr>
              <a:t>                    SQL Server Database</a:t>
            </a:r>
          </a:p>
          <a:p>
            <a:r>
              <a:rPr lang="en-IN" sz="900" dirty="0">
                <a:solidFill>
                  <a:schemeClr val="bg1"/>
                </a:solidFill>
              </a:rPr>
              <a:t>                           │</a:t>
            </a:r>
          </a:p>
          <a:p>
            <a:r>
              <a:rPr lang="en-IN" sz="900" dirty="0">
                <a:solidFill>
                  <a:schemeClr val="bg1"/>
                </a:solidFill>
              </a:rPr>
              <a:t>                           ▼</a:t>
            </a:r>
          </a:p>
          <a:p>
            <a:r>
              <a:rPr lang="en-IN" sz="900" dirty="0">
                <a:solidFill>
                  <a:schemeClr val="bg1"/>
                </a:solidFill>
              </a:rPr>
              <a:t>               SQL Queries &amp; Aggregations</a:t>
            </a:r>
          </a:p>
          <a:p>
            <a:r>
              <a:rPr lang="en-IN" sz="900" dirty="0">
                <a:solidFill>
                  <a:schemeClr val="bg1"/>
                </a:solidFill>
              </a:rPr>
              <a:t>                           │</a:t>
            </a:r>
          </a:p>
          <a:p>
            <a:r>
              <a:rPr lang="en-IN" sz="900" dirty="0">
                <a:solidFill>
                  <a:schemeClr val="bg1"/>
                </a:solidFill>
              </a:rPr>
              <a:t>                           ▼</a:t>
            </a:r>
          </a:p>
          <a:p>
            <a:r>
              <a:rPr lang="en-IN" sz="900" dirty="0">
                <a:solidFill>
                  <a:schemeClr val="bg1"/>
                </a:solidFill>
              </a:rPr>
              <a:t>                Power BI Interactive Dashboard</a:t>
            </a:r>
          </a:p>
          <a:p>
            <a:r>
              <a:rPr lang="en-IN" sz="900" dirty="0">
                <a:solidFill>
                  <a:schemeClr val="bg1"/>
                </a:solidFill>
              </a:rPr>
              <a:t>                           │</a:t>
            </a:r>
          </a:p>
          <a:p>
            <a:r>
              <a:rPr lang="en-IN" sz="900" dirty="0">
                <a:solidFill>
                  <a:schemeClr val="bg1"/>
                </a:solidFill>
              </a:rPr>
              <a:t>                           ▼</a:t>
            </a:r>
          </a:p>
          <a:p>
            <a:r>
              <a:rPr lang="en-IN" sz="900" dirty="0">
                <a:solidFill>
                  <a:schemeClr val="bg1"/>
                </a:solidFill>
              </a:rPr>
              <a:t>                 Business Decision Support</a:t>
            </a:r>
          </a:p>
        </p:txBody>
      </p:sp>
      <p:sp>
        <p:nvSpPr>
          <p:cNvPr id="17" name="TextBox 16">
            <a:extLst>
              <a:ext uri="{FF2B5EF4-FFF2-40B4-BE49-F238E27FC236}">
                <a16:creationId xmlns:a16="http://schemas.microsoft.com/office/drawing/2014/main" id="{8F844FD2-1C47-DC87-E3E3-FD3911F13C04}"/>
              </a:ext>
            </a:extLst>
          </p:cNvPr>
          <p:cNvSpPr txBox="1"/>
          <p:nvPr/>
        </p:nvSpPr>
        <p:spPr>
          <a:xfrm>
            <a:off x="5170714" y="990600"/>
            <a:ext cx="5573486" cy="5201424"/>
          </a:xfrm>
          <a:prstGeom prst="rect">
            <a:avLst/>
          </a:prstGeom>
          <a:noFill/>
        </p:spPr>
        <p:txBody>
          <a:bodyPr wrap="square" rtlCol="0">
            <a:spAutoFit/>
          </a:bodyPr>
          <a:lstStyle/>
          <a:p>
            <a:r>
              <a:rPr lang="en-IN" dirty="0"/>
              <a:t> </a:t>
            </a:r>
            <a:r>
              <a:rPr lang="en-IN" sz="800" dirty="0">
                <a:solidFill>
                  <a:schemeClr val="bg1"/>
                </a:solidFill>
              </a:rPr>
              <a:t>Data Source Layer</a:t>
            </a:r>
          </a:p>
          <a:p>
            <a:r>
              <a:rPr lang="en-IN" sz="800" dirty="0">
                <a:solidFill>
                  <a:schemeClr val="bg1"/>
                </a:solidFill>
              </a:rPr>
              <a:t>       ┌─────────────────────────┐</a:t>
            </a:r>
          </a:p>
          <a:p>
            <a:r>
              <a:rPr lang="en-IN" sz="800" dirty="0">
                <a:solidFill>
                  <a:schemeClr val="bg1"/>
                </a:solidFill>
              </a:rPr>
              <a:t>       │ Yahoo Finance API        │</a:t>
            </a:r>
          </a:p>
          <a:p>
            <a:r>
              <a:rPr lang="en-IN" sz="800" dirty="0">
                <a:solidFill>
                  <a:schemeClr val="bg1"/>
                </a:solidFill>
              </a:rPr>
              <a:t>       └────────────┬────────────┘</a:t>
            </a:r>
          </a:p>
          <a:p>
            <a:r>
              <a:rPr lang="en-IN" sz="800" dirty="0">
                <a:solidFill>
                  <a:schemeClr val="bg1"/>
                </a:solidFill>
              </a:rPr>
              <a:t>                    │</a:t>
            </a:r>
          </a:p>
          <a:p>
            <a:r>
              <a:rPr lang="en-IN" sz="800" dirty="0">
                <a:solidFill>
                  <a:schemeClr val="bg1"/>
                </a:solidFill>
              </a:rPr>
              <a:t>                    ▼</a:t>
            </a:r>
          </a:p>
          <a:p>
            <a:r>
              <a:rPr lang="en-IN" sz="800" dirty="0">
                <a:solidFill>
                  <a:schemeClr val="bg1"/>
                </a:solidFill>
              </a:rPr>
              <a:t>           Data Acquisition Layer</a:t>
            </a:r>
          </a:p>
          <a:p>
            <a:r>
              <a:rPr lang="en-IN" sz="800" dirty="0">
                <a:solidFill>
                  <a:schemeClr val="bg1"/>
                </a:solidFill>
              </a:rPr>
              <a:t>       ┌─────────────────────────┐</a:t>
            </a:r>
          </a:p>
          <a:p>
            <a:r>
              <a:rPr lang="en-IN" sz="800" dirty="0">
                <a:solidFill>
                  <a:schemeClr val="bg1"/>
                </a:solidFill>
              </a:rPr>
              <a:t>       │ Python + </a:t>
            </a:r>
            <a:r>
              <a:rPr lang="en-IN" sz="800" dirty="0" err="1">
                <a:solidFill>
                  <a:schemeClr val="bg1"/>
                </a:solidFill>
              </a:rPr>
              <a:t>yfinance</a:t>
            </a:r>
            <a:r>
              <a:rPr lang="en-IN" sz="800" dirty="0">
                <a:solidFill>
                  <a:schemeClr val="bg1"/>
                </a:solidFill>
              </a:rPr>
              <a:t>        │</a:t>
            </a:r>
          </a:p>
          <a:p>
            <a:r>
              <a:rPr lang="en-IN" sz="800" dirty="0">
                <a:solidFill>
                  <a:schemeClr val="bg1"/>
                </a:solidFill>
              </a:rPr>
              <a:t>       └────────────┬────────────┘</a:t>
            </a:r>
          </a:p>
          <a:p>
            <a:r>
              <a:rPr lang="en-IN" sz="800" dirty="0">
                <a:solidFill>
                  <a:schemeClr val="bg1"/>
                </a:solidFill>
              </a:rPr>
              <a:t>                    │</a:t>
            </a:r>
          </a:p>
          <a:p>
            <a:r>
              <a:rPr lang="en-IN" sz="800" dirty="0">
                <a:solidFill>
                  <a:schemeClr val="bg1"/>
                </a:solidFill>
              </a:rPr>
              <a:t>                    ▼</a:t>
            </a:r>
          </a:p>
          <a:p>
            <a:r>
              <a:rPr lang="en-IN" sz="800" dirty="0">
                <a:solidFill>
                  <a:schemeClr val="bg1"/>
                </a:solidFill>
              </a:rPr>
              <a:t>        Data Processing Layer</a:t>
            </a:r>
          </a:p>
          <a:p>
            <a:r>
              <a:rPr lang="en-IN" sz="800" dirty="0">
                <a:solidFill>
                  <a:schemeClr val="bg1"/>
                </a:solidFill>
              </a:rPr>
              <a:t>       ┌─────────────────────────┐</a:t>
            </a:r>
          </a:p>
          <a:p>
            <a:r>
              <a:rPr lang="en-IN" sz="800" dirty="0">
                <a:solidFill>
                  <a:schemeClr val="bg1"/>
                </a:solidFill>
              </a:rPr>
              <a:t>       │ Pandas                  │</a:t>
            </a:r>
          </a:p>
          <a:p>
            <a:r>
              <a:rPr lang="en-IN" sz="800" dirty="0">
                <a:solidFill>
                  <a:schemeClr val="bg1"/>
                </a:solidFill>
              </a:rPr>
              <a:t>       │ Data Cleaning           │</a:t>
            </a:r>
          </a:p>
          <a:p>
            <a:r>
              <a:rPr lang="en-IN" sz="800" dirty="0">
                <a:solidFill>
                  <a:schemeClr val="bg1"/>
                </a:solidFill>
              </a:rPr>
              <a:t>       │ Feature Engineering     │</a:t>
            </a:r>
          </a:p>
          <a:p>
            <a:r>
              <a:rPr lang="en-IN" sz="800" dirty="0">
                <a:solidFill>
                  <a:schemeClr val="bg1"/>
                </a:solidFill>
              </a:rPr>
              <a:t>       └────────────┬────────────┘</a:t>
            </a:r>
          </a:p>
          <a:p>
            <a:r>
              <a:rPr lang="en-IN" sz="800" dirty="0">
                <a:solidFill>
                  <a:schemeClr val="bg1"/>
                </a:solidFill>
              </a:rPr>
              <a:t>                    │</a:t>
            </a:r>
          </a:p>
          <a:p>
            <a:r>
              <a:rPr lang="en-IN" sz="800" dirty="0">
                <a:solidFill>
                  <a:schemeClr val="bg1"/>
                </a:solidFill>
              </a:rPr>
              <a:t>                    ▼</a:t>
            </a:r>
          </a:p>
          <a:p>
            <a:r>
              <a:rPr lang="en-IN" sz="800" dirty="0">
                <a:solidFill>
                  <a:schemeClr val="bg1"/>
                </a:solidFill>
              </a:rPr>
              <a:t>         Data Storage Layer</a:t>
            </a:r>
          </a:p>
          <a:p>
            <a:r>
              <a:rPr lang="en-IN" sz="800" dirty="0">
                <a:solidFill>
                  <a:schemeClr val="bg1"/>
                </a:solidFill>
              </a:rPr>
              <a:t>       ┌─────────────────────────┐</a:t>
            </a:r>
          </a:p>
          <a:p>
            <a:r>
              <a:rPr lang="en-IN" sz="800" dirty="0">
                <a:solidFill>
                  <a:schemeClr val="bg1"/>
                </a:solidFill>
              </a:rPr>
              <a:t>       │ SQL Server              │</a:t>
            </a:r>
          </a:p>
          <a:p>
            <a:r>
              <a:rPr lang="en-IN" sz="800" dirty="0">
                <a:solidFill>
                  <a:schemeClr val="bg1"/>
                </a:solidFill>
              </a:rPr>
              <a:t>       │ stock_data_2024         │</a:t>
            </a:r>
          </a:p>
          <a:p>
            <a:r>
              <a:rPr lang="en-IN" sz="800" dirty="0">
                <a:solidFill>
                  <a:schemeClr val="bg1"/>
                </a:solidFill>
              </a:rPr>
              <a:t>       └────────────┬────────────┘</a:t>
            </a:r>
          </a:p>
          <a:p>
            <a:r>
              <a:rPr lang="en-IN" sz="800" dirty="0">
                <a:solidFill>
                  <a:schemeClr val="bg1"/>
                </a:solidFill>
              </a:rPr>
              <a:t>                    │</a:t>
            </a:r>
          </a:p>
          <a:p>
            <a:r>
              <a:rPr lang="en-IN" sz="800" dirty="0">
                <a:solidFill>
                  <a:schemeClr val="bg1"/>
                </a:solidFill>
              </a:rPr>
              <a:t>                    ▼</a:t>
            </a:r>
          </a:p>
          <a:p>
            <a:r>
              <a:rPr lang="en-IN" sz="800" dirty="0">
                <a:solidFill>
                  <a:schemeClr val="bg1"/>
                </a:solidFill>
              </a:rPr>
              <a:t>        Analytics Layer</a:t>
            </a:r>
          </a:p>
          <a:p>
            <a:r>
              <a:rPr lang="en-IN" sz="800" dirty="0">
                <a:solidFill>
                  <a:schemeClr val="bg1"/>
                </a:solidFill>
              </a:rPr>
              <a:t>       ┌─────────────────────────┐</a:t>
            </a:r>
          </a:p>
          <a:p>
            <a:r>
              <a:rPr lang="en-IN" sz="800" dirty="0">
                <a:solidFill>
                  <a:schemeClr val="bg1"/>
                </a:solidFill>
              </a:rPr>
              <a:t>       │ SQL Queries             │</a:t>
            </a:r>
          </a:p>
          <a:p>
            <a:r>
              <a:rPr lang="en-IN" sz="800" dirty="0">
                <a:solidFill>
                  <a:schemeClr val="bg1"/>
                </a:solidFill>
              </a:rPr>
              <a:t>       │ Window Functions        │</a:t>
            </a:r>
          </a:p>
          <a:p>
            <a:r>
              <a:rPr lang="en-IN" sz="800" dirty="0">
                <a:solidFill>
                  <a:schemeClr val="bg1"/>
                </a:solidFill>
              </a:rPr>
              <a:t>       │ Aggregations            │</a:t>
            </a:r>
          </a:p>
          <a:p>
            <a:r>
              <a:rPr lang="en-IN" sz="800" dirty="0">
                <a:solidFill>
                  <a:schemeClr val="bg1"/>
                </a:solidFill>
              </a:rPr>
              <a:t>       └────────────┬────────────┘</a:t>
            </a:r>
          </a:p>
          <a:p>
            <a:r>
              <a:rPr lang="en-IN" sz="800" dirty="0">
                <a:solidFill>
                  <a:schemeClr val="bg1"/>
                </a:solidFill>
              </a:rPr>
              <a:t>                    │</a:t>
            </a:r>
          </a:p>
          <a:p>
            <a:r>
              <a:rPr lang="en-IN" sz="800" dirty="0">
                <a:solidFill>
                  <a:schemeClr val="bg1"/>
                </a:solidFill>
              </a:rPr>
              <a:t>                    ▼</a:t>
            </a:r>
          </a:p>
          <a:p>
            <a:r>
              <a:rPr lang="en-IN" sz="800" dirty="0">
                <a:solidFill>
                  <a:schemeClr val="bg1"/>
                </a:solidFill>
              </a:rPr>
              <a:t>      Visualization Layer</a:t>
            </a:r>
          </a:p>
          <a:p>
            <a:r>
              <a:rPr lang="en-IN" sz="800" dirty="0">
                <a:solidFill>
                  <a:schemeClr val="bg1"/>
                </a:solidFill>
              </a:rPr>
              <a:t>       ┌─────────────────────────┐</a:t>
            </a:r>
          </a:p>
          <a:p>
            <a:r>
              <a:rPr lang="en-IN" sz="800" dirty="0">
                <a:solidFill>
                  <a:schemeClr val="bg1"/>
                </a:solidFill>
              </a:rPr>
              <a:t>       │ Power BI Dashboard      │</a:t>
            </a:r>
          </a:p>
          <a:p>
            <a:r>
              <a:rPr lang="en-IN" sz="800" dirty="0">
                <a:solidFill>
                  <a:schemeClr val="bg1"/>
                </a:solidFill>
              </a:rPr>
              <a:t>       └─────────────────</a:t>
            </a:r>
            <a:r>
              <a:rPr lang="en-IN"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0F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11155680" cy="411480"/>
          </a:xfrm>
          <a:prstGeom prst="rect">
            <a:avLst/>
          </a:prstGeom>
          <a:noFill/>
        </p:spPr>
        <p:txBody>
          <a:bodyPr wrap="none">
            <a:spAutoFit/>
          </a:bodyPr>
          <a:lstStyle/>
          <a:p>
            <a:r>
              <a:rPr sz="2400" b="1">
                <a:solidFill>
                  <a:srgbClr val="FFFFFF"/>
                </a:solidFill>
              </a:rPr>
              <a:t>ETL Workflow</a:t>
            </a:r>
          </a:p>
          <a:p>
            <a:r>
              <a:rPr sz="1000">
                <a:solidFill>
                  <a:srgbClr val="C8CED6"/>
                </a:solidFill>
              </a:rPr>
              <a:t>From ingestion to analytics-ready data</a:t>
            </a: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6</a:t>
            </a:r>
          </a:p>
        </p:txBody>
      </p:sp>
      <p:sp>
        <p:nvSpPr>
          <p:cNvPr id="19" name="TextBox 18"/>
          <p:cNvSpPr txBox="1"/>
          <p:nvPr/>
        </p:nvSpPr>
        <p:spPr>
          <a:xfrm>
            <a:off x="513806" y="795528"/>
            <a:ext cx="4743994" cy="6083717"/>
          </a:xfrm>
          <a:prstGeom prst="rect">
            <a:avLst/>
          </a:prstGeom>
          <a:noFill/>
        </p:spPr>
        <p:txBody>
          <a:bodyPr wrap="square">
            <a:spAutoFit/>
          </a:bodyPr>
          <a:lstStyle/>
          <a:p>
            <a:pPr>
              <a:spcAft>
                <a:spcPts val="800"/>
              </a:spcAft>
              <a:defRPr sz="1700">
                <a:solidFill>
                  <a:srgbClr val="1F2937"/>
                </a:solidFill>
              </a:defRPr>
            </a:pPr>
            <a:r>
              <a:rPr sz="800" dirty="0">
                <a:solidFill>
                  <a:schemeClr val="bg1"/>
                </a:solidFill>
              </a:rPr>
              <a:t>Extract from source systems and land raw files in a staging zone.</a:t>
            </a:r>
          </a:p>
          <a:p>
            <a:pPr>
              <a:spcAft>
                <a:spcPts val="800"/>
              </a:spcAft>
              <a:defRPr sz="1700">
                <a:solidFill>
                  <a:srgbClr val="1F2937"/>
                </a:solidFill>
              </a:defRPr>
            </a:pPr>
            <a:r>
              <a:rPr sz="800" dirty="0">
                <a:solidFill>
                  <a:schemeClr val="bg1"/>
                </a:solidFill>
              </a:rPr>
              <a:t>Standardize schema, timestamps, and field </a:t>
            </a:r>
            <a:r>
              <a:rPr lang="en-IN" sz="800" dirty="0">
                <a:solidFill>
                  <a:schemeClr val="bg1"/>
                </a:solidFill>
              </a:rPr>
              <a:t> Yahoo Finance API</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Extract Historical Data</a:t>
            </a:r>
          </a:p>
          <a:p>
            <a:pPr>
              <a:spcAft>
                <a:spcPts val="800"/>
              </a:spcAft>
              <a:defRPr sz="1700">
                <a:solidFill>
                  <a:srgbClr val="1F2937"/>
                </a:solidFill>
              </a:defRPr>
            </a:pPr>
            <a:r>
              <a:rPr lang="en-IN" sz="800" dirty="0">
                <a:solidFill>
                  <a:schemeClr val="bg1"/>
                </a:solidFill>
              </a:rPr>
              <a:t>          (Python + </a:t>
            </a:r>
            <a:r>
              <a:rPr lang="en-IN" sz="800" dirty="0" err="1">
                <a:solidFill>
                  <a:schemeClr val="bg1"/>
                </a:solidFill>
              </a:rPr>
              <a:t>yFinance</a:t>
            </a: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Raw Dataset Collection</a:t>
            </a:r>
          </a:p>
          <a:p>
            <a:pPr>
              <a:spcAft>
                <a:spcPts val="800"/>
              </a:spcAft>
              <a:defRPr sz="1700">
                <a:solidFill>
                  <a:srgbClr val="1F2937"/>
                </a:solidFill>
              </a:defRPr>
            </a:pPr>
            <a:r>
              <a:rPr lang="en-IN" sz="800" dirty="0">
                <a:solidFill>
                  <a:schemeClr val="bg1"/>
                </a:solidFill>
              </a:rPr>
              <a:t>          (CSV Data Storage)</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Data Cleaning &amp; Validation</a:t>
            </a:r>
          </a:p>
          <a:p>
            <a:pPr>
              <a:spcAft>
                <a:spcPts val="800"/>
              </a:spcAft>
              <a:defRPr sz="1700">
                <a:solidFill>
                  <a:srgbClr val="1F2937"/>
                </a:solidFill>
              </a:defRPr>
            </a:pPr>
            <a:r>
              <a:rPr lang="en-IN" sz="800" dirty="0">
                <a:solidFill>
                  <a:schemeClr val="bg1"/>
                </a:solidFill>
              </a:rPr>
              <a:t>        (Python + Pandas)</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Data Transformation</a:t>
            </a:r>
          </a:p>
          <a:p>
            <a:pPr>
              <a:spcAft>
                <a:spcPts val="800"/>
              </a:spcAft>
              <a:defRPr sz="1700">
                <a:solidFill>
                  <a:srgbClr val="1F2937"/>
                </a:solidFill>
              </a:defRPr>
            </a:pPr>
            <a:r>
              <a:rPr lang="en-IN" sz="800" dirty="0">
                <a:solidFill>
                  <a:schemeClr val="bg1"/>
                </a:solidFill>
              </a:rPr>
              <a:t>  • Standardize Data Types</a:t>
            </a:r>
          </a:p>
          <a:p>
            <a:pPr>
              <a:spcAft>
                <a:spcPts val="800"/>
              </a:spcAft>
              <a:defRPr sz="1700">
                <a:solidFill>
                  <a:srgbClr val="1F2937"/>
                </a:solidFill>
              </a:defRPr>
            </a:pPr>
            <a:r>
              <a:rPr lang="en-IN" sz="800" dirty="0">
                <a:solidFill>
                  <a:schemeClr val="bg1"/>
                </a:solidFill>
              </a:rPr>
              <a:t>  • Handle Missing Values</a:t>
            </a:r>
          </a:p>
          <a:p>
            <a:pPr>
              <a:spcAft>
                <a:spcPts val="800"/>
              </a:spcAft>
              <a:defRPr sz="1700">
                <a:solidFill>
                  <a:srgbClr val="1F2937"/>
                </a:solidFill>
              </a:defRPr>
            </a:pPr>
            <a:r>
              <a:rPr lang="en-IN" sz="800" dirty="0">
                <a:solidFill>
                  <a:schemeClr val="bg1"/>
                </a:solidFill>
              </a:rPr>
              <a:t>  • Remove Duplicates</a:t>
            </a:r>
          </a:p>
          <a:p>
            <a:pPr>
              <a:spcAft>
                <a:spcPts val="800"/>
              </a:spcAft>
              <a:defRPr sz="1700">
                <a:solidFill>
                  <a:srgbClr val="1F2937"/>
                </a:solidFill>
              </a:defRPr>
            </a:pPr>
            <a:r>
              <a:rPr lang="en-IN" sz="800" dirty="0">
                <a:solidFill>
                  <a:schemeClr val="bg1"/>
                </a:solidFill>
              </a:rPr>
              <a:t>  • Format Date Columns</a:t>
            </a:r>
          </a:p>
          <a:p>
            <a:pPr>
              <a:spcAft>
                <a:spcPts val="800"/>
              </a:spcAft>
              <a:defRPr sz="1700">
                <a:solidFill>
                  <a:srgbClr val="1F2937"/>
                </a:solidFill>
              </a:defRPr>
            </a:pPr>
            <a:r>
              <a:rPr lang="en-IN" sz="800" dirty="0">
                <a:solidFill>
                  <a:schemeClr val="bg1"/>
                </a:solidFill>
              </a:rPr>
              <a:t>  • Calculate Daily Returns</a:t>
            </a:r>
          </a:p>
          <a:p>
            <a:pPr>
              <a:spcAft>
                <a:spcPts val="800"/>
              </a:spcAft>
              <a:defRPr sz="1700">
                <a:solidFill>
                  <a:srgbClr val="1F2937"/>
                </a:solidFill>
              </a:defRPr>
            </a:pPr>
            <a:r>
              <a:rPr lang="en-IN" sz="800" dirty="0">
                <a:solidFill>
                  <a:schemeClr val="bg1"/>
                </a:solidFill>
              </a:rPr>
              <a:t>  • Create Moving Averages</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Load into SQL Server</a:t>
            </a:r>
          </a:p>
          <a:p>
            <a:pPr>
              <a:spcAft>
                <a:spcPts val="800"/>
              </a:spcAft>
              <a:defRPr sz="1700">
                <a:solidFill>
                  <a:srgbClr val="1F2937"/>
                </a:solidFill>
              </a:defRPr>
            </a:pPr>
            <a:r>
              <a:rPr lang="en-IN" sz="800" dirty="0">
                <a:solidFill>
                  <a:schemeClr val="bg1"/>
                </a:solidFill>
              </a:rPr>
              <a:t>       (Analytics Database)</a:t>
            </a:r>
          </a:p>
          <a:p>
            <a:pPr>
              <a:spcAft>
                <a:spcPts val="800"/>
              </a:spcAft>
              <a:defRPr sz="1700">
                <a:solidFill>
                  <a:srgbClr val="1F2937"/>
                </a:solidFill>
              </a:defRPr>
            </a:pPr>
            <a:r>
              <a:rPr sz="800" dirty="0"/>
              <a:t>SQL.</a:t>
            </a:r>
          </a:p>
        </p:txBody>
      </p:sp>
      <p:sp>
        <p:nvSpPr>
          <p:cNvPr id="20" name="TextBox 19">
            <a:extLst>
              <a:ext uri="{FF2B5EF4-FFF2-40B4-BE49-F238E27FC236}">
                <a16:creationId xmlns:a16="http://schemas.microsoft.com/office/drawing/2014/main" id="{3F143C84-24F6-070B-7BF3-02BA506C4F23}"/>
              </a:ext>
            </a:extLst>
          </p:cNvPr>
          <p:cNvSpPr txBox="1"/>
          <p:nvPr/>
        </p:nvSpPr>
        <p:spPr>
          <a:xfrm>
            <a:off x="5540829" y="936171"/>
            <a:ext cx="4365171" cy="3739485"/>
          </a:xfrm>
          <a:prstGeom prst="rect">
            <a:avLst/>
          </a:prstGeom>
          <a:noFill/>
        </p:spPr>
        <p:txBody>
          <a:bodyPr wrap="square" rtlCol="0">
            <a:spAutoFit/>
          </a:bodyPr>
          <a:lstStyle/>
          <a:p>
            <a:pPr>
              <a:spcAft>
                <a:spcPts val="800"/>
              </a:spcAft>
              <a:defRPr sz="1700">
                <a:solidFill>
                  <a:srgbClr val="1F2937"/>
                </a:solidFill>
              </a:defRPr>
            </a:pPr>
            <a:r>
              <a:rPr lang="en-IN"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SQL Data Analysis</a:t>
            </a:r>
          </a:p>
          <a:p>
            <a:pPr>
              <a:spcAft>
                <a:spcPts val="800"/>
              </a:spcAft>
              <a:defRPr sz="1700">
                <a:solidFill>
                  <a:srgbClr val="1F2937"/>
                </a:solidFill>
              </a:defRPr>
            </a:pPr>
            <a:r>
              <a:rPr lang="en-IN" sz="800" dirty="0">
                <a:solidFill>
                  <a:schemeClr val="bg1"/>
                </a:solidFill>
              </a:rPr>
              <a:t>   • Aggregations</a:t>
            </a:r>
          </a:p>
          <a:p>
            <a:pPr>
              <a:spcAft>
                <a:spcPts val="800"/>
              </a:spcAft>
              <a:defRPr sz="1700">
                <a:solidFill>
                  <a:srgbClr val="1F2937"/>
                </a:solidFill>
              </a:defRPr>
            </a:pPr>
            <a:r>
              <a:rPr lang="en-IN" sz="800" dirty="0">
                <a:solidFill>
                  <a:schemeClr val="bg1"/>
                </a:solidFill>
              </a:rPr>
              <a:t>   • Window Functions</a:t>
            </a:r>
          </a:p>
          <a:p>
            <a:pPr>
              <a:spcAft>
                <a:spcPts val="800"/>
              </a:spcAft>
              <a:defRPr sz="1700">
                <a:solidFill>
                  <a:srgbClr val="1F2937"/>
                </a:solidFill>
              </a:defRPr>
            </a:pPr>
            <a:r>
              <a:rPr lang="en-IN" sz="800" dirty="0">
                <a:solidFill>
                  <a:schemeClr val="bg1"/>
                </a:solidFill>
              </a:rPr>
              <a:t>   • Performance Metrics</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Power BI Dashboard</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a:t>
            </a:r>
          </a:p>
          <a:p>
            <a:pPr>
              <a:spcAft>
                <a:spcPts val="800"/>
              </a:spcAft>
              <a:defRPr sz="1700">
                <a:solidFill>
                  <a:srgbClr val="1F2937"/>
                </a:solidFill>
              </a:defRPr>
            </a:pPr>
            <a:r>
              <a:rPr lang="en-IN" sz="800" dirty="0">
                <a:solidFill>
                  <a:schemeClr val="bg1"/>
                </a:solidFill>
              </a:rPr>
              <a:t>     Business Insights &amp;</a:t>
            </a:r>
          </a:p>
          <a:p>
            <a:pPr>
              <a:spcAft>
                <a:spcPts val="800"/>
              </a:spcAft>
              <a:defRPr sz="1700">
                <a:solidFill>
                  <a:srgbClr val="1F2937"/>
                </a:solidFill>
              </a:defRPr>
            </a:pPr>
            <a:r>
              <a:rPr lang="en-IN" sz="800" dirty="0">
                <a:solidFill>
                  <a:schemeClr val="bg1"/>
                </a:solidFill>
              </a:rPr>
              <a:t>    Decision </a:t>
            </a:r>
            <a:r>
              <a:rPr lang="en-IN" sz="800" dirty="0" err="1">
                <a:solidFill>
                  <a:schemeClr val="bg1"/>
                </a:solidFill>
              </a:rPr>
              <a:t>Supportnaming</a:t>
            </a:r>
            <a:r>
              <a:rPr lang="en-IN" sz="800" dirty="0">
                <a:solidFill>
                  <a:schemeClr val="bg1"/>
                </a:solidFill>
              </a:rPr>
              <a:t> conventions.</a:t>
            </a:r>
          </a:p>
          <a:p>
            <a:pPr>
              <a:spcAft>
                <a:spcPts val="800"/>
              </a:spcAft>
              <a:defRPr sz="1700">
                <a:solidFill>
                  <a:srgbClr val="1F2937"/>
                </a:solidFill>
              </a:defRPr>
            </a:pPr>
            <a:r>
              <a:rPr lang="en-IN" sz="800" dirty="0">
                <a:solidFill>
                  <a:schemeClr val="bg1"/>
                </a:solidFill>
              </a:rPr>
              <a:t>Run row-level checks, null checks, duplicate checks, and range checks.</a:t>
            </a:r>
          </a:p>
          <a:p>
            <a:pPr>
              <a:spcAft>
                <a:spcPts val="800"/>
              </a:spcAft>
              <a:defRPr sz="1700">
                <a:solidFill>
                  <a:srgbClr val="1F2937"/>
                </a:solidFill>
              </a:defRPr>
            </a:pPr>
            <a:r>
              <a:rPr lang="en-IN" sz="800" dirty="0">
                <a:solidFill>
                  <a:schemeClr val="bg1"/>
                </a:solidFill>
              </a:rPr>
              <a:t>Transform into normalized fact and dimension tables for reporting and analysis.</a:t>
            </a:r>
          </a:p>
          <a:p>
            <a:pPr>
              <a:spcAft>
                <a:spcPts val="800"/>
              </a:spcAft>
              <a:defRPr sz="1700">
                <a:solidFill>
                  <a:srgbClr val="1F2937"/>
                </a:solidFill>
              </a:defRPr>
            </a:pPr>
            <a:r>
              <a:rPr lang="en-IN" sz="800" dirty="0">
                <a:solidFill>
                  <a:schemeClr val="bg1"/>
                </a:solidFill>
              </a:rPr>
              <a:t>Load curated tables into the analytics layer for d</a:t>
            </a:r>
            <a:r>
              <a:rPr lang="en-IN" sz="800" dirty="0"/>
              <a:t>ashboards and ad hoc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0F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4839402" cy="615553"/>
          </a:xfrm>
          <a:prstGeom prst="rect">
            <a:avLst/>
          </a:prstGeom>
          <a:noFill/>
        </p:spPr>
        <p:txBody>
          <a:bodyPr wrap="none">
            <a:spAutoFit/>
          </a:bodyPr>
          <a:lstStyle/>
          <a:p>
            <a:r>
              <a:rPr sz="2400" b="1" dirty="0">
                <a:solidFill>
                  <a:srgbClr val="FFFFFF"/>
                </a:solidFill>
              </a:rPr>
              <a:t>Validation and Data Quality Controls</a:t>
            </a:r>
          </a:p>
          <a:p>
            <a:endParaRPr sz="1000" dirty="0">
              <a:solidFill>
                <a:srgbClr val="C8CED6"/>
              </a:solidFill>
            </a:endParaRP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9</a:t>
            </a:r>
          </a:p>
        </p:txBody>
      </p:sp>
      <p:sp>
        <p:nvSpPr>
          <p:cNvPr id="5" name="Rounded Rectangle 4"/>
          <p:cNvSpPr/>
          <p:nvPr/>
        </p:nvSpPr>
        <p:spPr>
          <a:xfrm>
            <a:off x="257908" y="1097280"/>
            <a:ext cx="11500338" cy="5294376"/>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199" y="685800"/>
            <a:ext cx="12311743" cy="54864"/>
          </a:xfrm>
          <a:prstGeom prst="rect">
            <a:avLst/>
          </a:prstGeom>
          <a:solidFill>
            <a:srgbClr val="D77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0" y="6606590"/>
            <a:ext cx="12192000" cy="182880"/>
          </a:xfrm>
          <a:prstGeom prst="rect">
            <a:avLst/>
          </a:prstGeom>
          <a:solidFill>
            <a:srgbClr val="228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1" name="Table 20">
            <a:extLst>
              <a:ext uri="{FF2B5EF4-FFF2-40B4-BE49-F238E27FC236}">
                <a16:creationId xmlns:a16="http://schemas.microsoft.com/office/drawing/2014/main" id="{352EBF32-272B-14B1-CFB3-B290C0DFACE1}"/>
              </a:ext>
            </a:extLst>
          </p:cNvPr>
          <p:cNvGraphicFramePr>
            <a:graphicFrameLocks noGrp="1"/>
          </p:cNvGraphicFramePr>
          <p:nvPr>
            <p:extLst>
              <p:ext uri="{D42A27DB-BD31-4B8C-83A1-F6EECF244321}">
                <p14:modId xmlns:p14="http://schemas.microsoft.com/office/powerpoint/2010/main" val="2184846515"/>
              </p:ext>
            </p:extLst>
          </p:nvPr>
        </p:nvGraphicFramePr>
        <p:xfrm>
          <a:off x="855785" y="1580638"/>
          <a:ext cx="10070124" cy="4528264"/>
        </p:xfrm>
        <a:graphic>
          <a:graphicData uri="http://schemas.openxmlformats.org/drawingml/2006/table">
            <a:tbl>
              <a:tblPr/>
              <a:tblGrid>
                <a:gridCol w="3356708">
                  <a:extLst>
                    <a:ext uri="{9D8B030D-6E8A-4147-A177-3AD203B41FA5}">
                      <a16:colId xmlns:a16="http://schemas.microsoft.com/office/drawing/2014/main" val="487770871"/>
                    </a:ext>
                  </a:extLst>
                </a:gridCol>
                <a:gridCol w="3356708">
                  <a:extLst>
                    <a:ext uri="{9D8B030D-6E8A-4147-A177-3AD203B41FA5}">
                      <a16:colId xmlns:a16="http://schemas.microsoft.com/office/drawing/2014/main" val="2802705540"/>
                    </a:ext>
                  </a:extLst>
                </a:gridCol>
                <a:gridCol w="3356708">
                  <a:extLst>
                    <a:ext uri="{9D8B030D-6E8A-4147-A177-3AD203B41FA5}">
                      <a16:colId xmlns:a16="http://schemas.microsoft.com/office/drawing/2014/main" val="2102187039"/>
                    </a:ext>
                  </a:extLst>
                </a:gridCol>
              </a:tblGrid>
              <a:tr h="301731">
                <a:tc>
                  <a:txBody>
                    <a:bodyPr/>
                    <a:lstStyle/>
                    <a:p>
                      <a:pPr>
                        <a:buNone/>
                      </a:pPr>
                      <a:r>
                        <a:rPr lang="en-IN" sz="1500" b="1"/>
                        <a:t>Validation Type</a:t>
                      </a:r>
                      <a:endParaRPr lang="en-IN" sz="1500"/>
                    </a:p>
                  </a:txBody>
                  <a:tcPr marL="75433" marR="75433" marT="37716" marB="37716" anchor="ctr">
                    <a:lnL>
                      <a:noFill/>
                    </a:lnL>
                    <a:lnR>
                      <a:noFill/>
                    </a:lnR>
                    <a:lnT>
                      <a:noFill/>
                    </a:lnT>
                    <a:lnB>
                      <a:noFill/>
                    </a:lnB>
                    <a:noFill/>
                  </a:tcPr>
                </a:tc>
                <a:tc>
                  <a:txBody>
                    <a:bodyPr/>
                    <a:lstStyle/>
                    <a:p>
                      <a:pPr>
                        <a:buNone/>
                      </a:pPr>
                      <a:r>
                        <a:rPr lang="en-IN" sz="1500" b="1"/>
                        <a:t>Quality Check</a:t>
                      </a:r>
                      <a:endParaRPr lang="en-IN" sz="1500"/>
                    </a:p>
                  </a:txBody>
                  <a:tcPr marL="75433" marR="75433" marT="37716" marB="37716" anchor="ctr">
                    <a:lnL>
                      <a:noFill/>
                    </a:lnL>
                    <a:lnR>
                      <a:noFill/>
                    </a:lnR>
                    <a:lnT>
                      <a:noFill/>
                    </a:lnT>
                    <a:lnB>
                      <a:noFill/>
                    </a:lnB>
                    <a:noFill/>
                  </a:tcPr>
                </a:tc>
                <a:tc>
                  <a:txBody>
                    <a:bodyPr/>
                    <a:lstStyle/>
                    <a:p>
                      <a:pPr>
                        <a:buNone/>
                      </a:pPr>
                      <a:r>
                        <a:rPr lang="en-IN" sz="1500" b="1"/>
                        <a:t>Purpose</a:t>
                      </a:r>
                      <a:endParaRPr lang="en-IN" sz="1500"/>
                    </a:p>
                  </a:txBody>
                  <a:tcPr marL="75433" marR="75433" marT="37716" marB="37716" anchor="ctr">
                    <a:lnL>
                      <a:noFill/>
                    </a:lnL>
                    <a:lnR>
                      <a:noFill/>
                    </a:lnR>
                    <a:lnT>
                      <a:noFill/>
                    </a:lnT>
                    <a:lnB>
                      <a:noFill/>
                    </a:lnB>
                    <a:noFill/>
                  </a:tcPr>
                </a:tc>
                <a:extLst>
                  <a:ext uri="{0D108BD9-81ED-4DB2-BD59-A6C34878D82A}">
                    <a16:rowId xmlns:a16="http://schemas.microsoft.com/office/drawing/2014/main" val="2438672249"/>
                  </a:ext>
                </a:extLst>
              </a:tr>
              <a:tr h="528029">
                <a:tc>
                  <a:txBody>
                    <a:bodyPr/>
                    <a:lstStyle/>
                    <a:p>
                      <a:pPr>
                        <a:buNone/>
                      </a:pPr>
                      <a:r>
                        <a:rPr lang="en-IN" sz="1500" b="1"/>
                        <a:t>Schema Validation</a:t>
                      </a:r>
                      <a:endParaRPr lang="en-IN" sz="1500"/>
                    </a:p>
                  </a:txBody>
                  <a:tcPr marL="75433" marR="75433" marT="37716" marB="37716" anchor="ctr">
                    <a:lnL>
                      <a:noFill/>
                    </a:lnL>
                    <a:lnR>
                      <a:noFill/>
                    </a:lnR>
                    <a:lnT>
                      <a:noFill/>
                    </a:lnT>
                    <a:lnB>
                      <a:noFill/>
                    </a:lnB>
                    <a:noFill/>
                  </a:tcPr>
                </a:tc>
                <a:tc>
                  <a:txBody>
                    <a:bodyPr/>
                    <a:lstStyle/>
                    <a:p>
                      <a:pPr>
                        <a:buNone/>
                      </a:pPr>
                      <a:r>
                        <a:rPr lang="en-US" sz="1500"/>
                        <a:t>Verify columns and data types</a:t>
                      </a:r>
                    </a:p>
                  </a:txBody>
                  <a:tcPr marL="75433" marR="75433" marT="37716" marB="37716" anchor="ctr">
                    <a:lnL>
                      <a:noFill/>
                    </a:lnL>
                    <a:lnR>
                      <a:noFill/>
                    </a:lnR>
                    <a:lnT>
                      <a:noFill/>
                    </a:lnT>
                    <a:lnB>
                      <a:noFill/>
                    </a:lnB>
                    <a:noFill/>
                  </a:tcPr>
                </a:tc>
                <a:tc>
                  <a:txBody>
                    <a:bodyPr/>
                    <a:lstStyle/>
                    <a:p>
                      <a:pPr>
                        <a:buNone/>
                      </a:pPr>
                      <a:r>
                        <a:rPr lang="en-IN" sz="1500"/>
                        <a:t>Ensure correct data structure</a:t>
                      </a:r>
                    </a:p>
                  </a:txBody>
                  <a:tcPr marL="75433" marR="75433" marT="37716" marB="37716" anchor="ctr">
                    <a:lnL>
                      <a:noFill/>
                    </a:lnL>
                    <a:lnR>
                      <a:noFill/>
                    </a:lnR>
                    <a:lnT>
                      <a:noFill/>
                    </a:lnT>
                    <a:lnB>
                      <a:noFill/>
                    </a:lnB>
                    <a:noFill/>
                  </a:tcPr>
                </a:tc>
                <a:extLst>
                  <a:ext uri="{0D108BD9-81ED-4DB2-BD59-A6C34878D82A}">
                    <a16:rowId xmlns:a16="http://schemas.microsoft.com/office/drawing/2014/main" val="2812930752"/>
                  </a:ext>
                </a:extLst>
              </a:tr>
              <a:tr h="528029">
                <a:tc>
                  <a:txBody>
                    <a:bodyPr/>
                    <a:lstStyle/>
                    <a:p>
                      <a:pPr>
                        <a:buNone/>
                      </a:pPr>
                      <a:r>
                        <a:rPr lang="en-IN" sz="1500" b="1"/>
                        <a:t>Completeness Check</a:t>
                      </a:r>
                      <a:endParaRPr lang="en-IN" sz="1500"/>
                    </a:p>
                  </a:txBody>
                  <a:tcPr marL="75433" marR="75433" marT="37716" marB="37716" anchor="ctr">
                    <a:lnL>
                      <a:noFill/>
                    </a:lnL>
                    <a:lnR>
                      <a:noFill/>
                    </a:lnR>
                    <a:lnT>
                      <a:noFill/>
                    </a:lnT>
                    <a:lnB>
                      <a:noFill/>
                    </a:lnB>
                    <a:noFill/>
                  </a:tcPr>
                </a:tc>
                <a:tc>
                  <a:txBody>
                    <a:bodyPr/>
                    <a:lstStyle/>
                    <a:p>
                      <a:pPr>
                        <a:buNone/>
                      </a:pPr>
                      <a:r>
                        <a:rPr lang="en-US" sz="1500"/>
                        <a:t>Detect NULL or missing values</a:t>
                      </a:r>
                    </a:p>
                  </a:txBody>
                  <a:tcPr marL="75433" marR="75433" marT="37716" marB="37716" anchor="ctr">
                    <a:lnL>
                      <a:noFill/>
                    </a:lnL>
                    <a:lnR>
                      <a:noFill/>
                    </a:lnR>
                    <a:lnT>
                      <a:noFill/>
                    </a:lnT>
                    <a:lnB>
                      <a:noFill/>
                    </a:lnB>
                    <a:noFill/>
                  </a:tcPr>
                </a:tc>
                <a:tc>
                  <a:txBody>
                    <a:bodyPr/>
                    <a:lstStyle/>
                    <a:p>
                      <a:pPr>
                        <a:buNone/>
                      </a:pPr>
                      <a:r>
                        <a:rPr lang="en-IN" sz="1500"/>
                        <a:t>Prevent incomplete records</a:t>
                      </a:r>
                    </a:p>
                  </a:txBody>
                  <a:tcPr marL="75433" marR="75433" marT="37716" marB="37716" anchor="ctr">
                    <a:lnL>
                      <a:noFill/>
                    </a:lnL>
                    <a:lnR>
                      <a:noFill/>
                    </a:lnR>
                    <a:lnT>
                      <a:noFill/>
                    </a:lnT>
                    <a:lnB>
                      <a:noFill/>
                    </a:lnB>
                    <a:noFill/>
                  </a:tcPr>
                </a:tc>
                <a:extLst>
                  <a:ext uri="{0D108BD9-81ED-4DB2-BD59-A6C34878D82A}">
                    <a16:rowId xmlns:a16="http://schemas.microsoft.com/office/drawing/2014/main" val="2307030774"/>
                  </a:ext>
                </a:extLst>
              </a:tr>
              <a:tr h="528029">
                <a:tc>
                  <a:txBody>
                    <a:bodyPr/>
                    <a:lstStyle/>
                    <a:p>
                      <a:pPr>
                        <a:buNone/>
                      </a:pPr>
                      <a:r>
                        <a:rPr lang="en-IN" sz="1500" b="1"/>
                        <a:t>Duplicate Validation</a:t>
                      </a:r>
                      <a:endParaRPr lang="en-IN" sz="1500"/>
                    </a:p>
                  </a:txBody>
                  <a:tcPr marL="75433" marR="75433" marT="37716" marB="37716" anchor="ctr">
                    <a:lnL>
                      <a:noFill/>
                    </a:lnL>
                    <a:lnR>
                      <a:noFill/>
                    </a:lnR>
                    <a:lnT>
                      <a:noFill/>
                    </a:lnT>
                    <a:lnB>
                      <a:noFill/>
                    </a:lnB>
                    <a:noFill/>
                  </a:tcPr>
                </a:tc>
                <a:tc>
                  <a:txBody>
                    <a:bodyPr/>
                    <a:lstStyle/>
                    <a:p>
                      <a:pPr>
                        <a:buNone/>
                      </a:pPr>
                      <a:r>
                        <a:rPr lang="en-US" sz="1500"/>
                        <a:t>Check unique </a:t>
                      </a:r>
                      <a:r>
                        <a:rPr lang="en-US" sz="1500">
                          <a:latin typeface="Courier New" panose="02070309020205020404" pitchFamily="49" charset="0"/>
                        </a:rPr>
                        <a:t>Stock + Date</a:t>
                      </a:r>
                      <a:r>
                        <a:rPr lang="en-US" sz="1500"/>
                        <a:t> records</a:t>
                      </a:r>
                    </a:p>
                  </a:txBody>
                  <a:tcPr marL="75433" marR="75433" marT="37716" marB="37716" anchor="ctr">
                    <a:lnL>
                      <a:noFill/>
                    </a:lnL>
                    <a:lnR>
                      <a:noFill/>
                    </a:lnR>
                    <a:lnT>
                      <a:noFill/>
                    </a:lnT>
                    <a:lnB>
                      <a:noFill/>
                    </a:lnB>
                    <a:noFill/>
                  </a:tcPr>
                </a:tc>
                <a:tc>
                  <a:txBody>
                    <a:bodyPr/>
                    <a:lstStyle/>
                    <a:p>
                      <a:pPr>
                        <a:buNone/>
                      </a:pPr>
                      <a:r>
                        <a:rPr lang="en-IN" sz="1500"/>
                        <a:t>Eliminate duplicate entries</a:t>
                      </a:r>
                    </a:p>
                  </a:txBody>
                  <a:tcPr marL="75433" marR="75433" marT="37716" marB="37716" anchor="ctr">
                    <a:lnL>
                      <a:noFill/>
                    </a:lnL>
                    <a:lnR>
                      <a:noFill/>
                    </a:lnR>
                    <a:lnT>
                      <a:noFill/>
                    </a:lnT>
                    <a:lnB>
                      <a:noFill/>
                    </a:lnB>
                    <a:noFill/>
                  </a:tcPr>
                </a:tc>
                <a:extLst>
                  <a:ext uri="{0D108BD9-81ED-4DB2-BD59-A6C34878D82A}">
                    <a16:rowId xmlns:a16="http://schemas.microsoft.com/office/drawing/2014/main" val="2863690371"/>
                  </a:ext>
                </a:extLst>
              </a:tr>
              <a:tr h="528029">
                <a:tc>
                  <a:txBody>
                    <a:bodyPr/>
                    <a:lstStyle/>
                    <a:p>
                      <a:pPr>
                        <a:buNone/>
                      </a:pPr>
                      <a:r>
                        <a:rPr lang="en-IN" sz="1500" b="1"/>
                        <a:t>Accuracy Validation</a:t>
                      </a:r>
                      <a:endParaRPr lang="en-IN" sz="1500"/>
                    </a:p>
                  </a:txBody>
                  <a:tcPr marL="75433" marR="75433" marT="37716" marB="37716" anchor="ctr">
                    <a:lnL>
                      <a:noFill/>
                    </a:lnL>
                    <a:lnR>
                      <a:noFill/>
                    </a:lnR>
                    <a:lnT>
                      <a:noFill/>
                    </a:lnT>
                    <a:lnB>
                      <a:noFill/>
                    </a:lnB>
                    <a:noFill/>
                  </a:tcPr>
                </a:tc>
                <a:tc>
                  <a:txBody>
                    <a:bodyPr/>
                    <a:lstStyle/>
                    <a:p>
                      <a:pPr>
                        <a:buNone/>
                      </a:pPr>
                      <a:r>
                        <a:rPr lang="en-US" sz="1500"/>
                        <a:t>Validate OHLC prices and volume</a:t>
                      </a:r>
                    </a:p>
                  </a:txBody>
                  <a:tcPr marL="75433" marR="75433" marT="37716" marB="37716" anchor="ctr">
                    <a:lnL>
                      <a:noFill/>
                    </a:lnL>
                    <a:lnR>
                      <a:noFill/>
                    </a:lnR>
                    <a:lnT>
                      <a:noFill/>
                    </a:lnT>
                    <a:lnB>
                      <a:noFill/>
                    </a:lnB>
                    <a:noFill/>
                  </a:tcPr>
                </a:tc>
                <a:tc>
                  <a:txBody>
                    <a:bodyPr/>
                    <a:lstStyle/>
                    <a:p>
                      <a:pPr>
                        <a:buNone/>
                      </a:pPr>
                      <a:r>
                        <a:rPr lang="en-IN" sz="1500"/>
                        <a:t>Ensure business rule compliance</a:t>
                      </a:r>
                    </a:p>
                  </a:txBody>
                  <a:tcPr marL="75433" marR="75433" marT="37716" marB="37716" anchor="ctr">
                    <a:lnL>
                      <a:noFill/>
                    </a:lnL>
                    <a:lnR>
                      <a:noFill/>
                    </a:lnR>
                    <a:lnT>
                      <a:noFill/>
                    </a:lnT>
                    <a:lnB>
                      <a:noFill/>
                    </a:lnB>
                    <a:noFill/>
                  </a:tcPr>
                </a:tc>
                <a:extLst>
                  <a:ext uri="{0D108BD9-81ED-4DB2-BD59-A6C34878D82A}">
                    <a16:rowId xmlns:a16="http://schemas.microsoft.com/office/drawing/2014/main" val="3319703172"/>
                  </a:ext>
                </a:extLst>
              </a:tr>
              <a:tr h="528029">
                <a:tc>
                  <a:txBody>
                    <a:bodyPr/>
                    <a:lstStyle/>
                    <a:p>
                      <a:pPr>
                        <a:buNone/>
                      </a:pPr>
                      <a:r>
                        <a:rPr lang="en-IN" sz="1500" b="1"/>
                        <a:t>Consistency Check</a:t>
                      </a:r>
                      <a:endParaRPr lang="en-IN" sz="1500"/>
                    </a:p>
                  </a:txBody>
                  <a:tcPr marL="75433" marR="75433" marT="37716" marB="37716" anchor="ctr">
                    <a:lnL>
                      <a:noFill/>
                    </a:lnL>
                    <a:lnR>
                      <a:noFill/>
                    </a:lnR>
                    <a:lnT>
                      <a:noFill/>
                    </a:lnT>
                    <a:lnB>
                      <a:noFill/>
                    </a:lnB>
                    <a:noFill/>
                  </a:tcPr>
                </a:tc>
                <a:tc>
                  <a:txBody>
                    <a:bodyPr/>
                    <a:lstStyle/>
                    <a:p>
                      <a:pPr>
                        <a:buNone/>
                      </a:pPr>
                      <a:r>
                        <a:rPr lang="en-US" sz="1500"/>
                        <a:t>Standardize formats and stock names</a:t>
                      </a:r>
                    </a:p>
                  </a:txBody>
                  <a:tcPr marL="75433" marR="75433" marT="37716" marB="37716" anchor="ctr">
                    <a:lnL>
                      <a:noFill/>
                    </a:lnL>
                    <a:lnR>
                      <a:noFill/>
                    </a:lnR>
                    <a:lnT>
                      <a:noFill/>
                    </a:lnT>
                    <a:lnB>
                      <a:noFill/>
                    </a:lnB>
                    <a:noFill/>
                  </a:tcPr>
                </a:tc>
                <a:tc>
                  <a:txBody>
                    <a:bodyPr/>
                    <a:lstStyle/>
                    <a:p>
                      <a:pPr>
                        <a:buNone/>
                      </a:pPr>
                      <a:r>
                        <a:rPr lang="en-IN" sz="1500"/>
                        <a:t>Maintain data uniformity</a:t>
                      </a:r>
                    </a:p>
                  </a:txBody>
                  <a:tcPr marL="75433" marR="75433" marT="37716" marB="37716" anchor="ctr">
                    <a:lnL>
                      <a:noFill/>
                    </a:lnL>
                    <a:lnR>
                      <a:noFill/>
                    </a:lnR>
                    <a:lnT>
                      <a:noFill/>
                    </a:lnT>
                    <a:lnB>
                      <a:noFill/>
                    </a:lnB>
                    <a:noFill/>
                  </a:tcPr>
                </a:tc>
                <a:extLst>
                  <a:ext uri="{0D108BD9-81ED-4DB2-BD59-A6C34878D82A}">
                    <a16:rowId xmlns:a16="http://schemas.microsoft.com/office/drawing/2014/main" val="3799025474"/>
                  </a:ext>
                </a:extLst>
              </a:tr>
              <a:tr h="528029">
                <a:tc>
                  <a:txBody>
                    <a:bodyPr/>
                    <a:lstStyle/>
                    <a:p>
                      <a:pPr>
                        <a:buNone/>
                      </a:pPr>
                      <a:r>
                        <a:rPr lang="en-IN" sz="1500" b="1"/>
                        <a:t>Range Validation</a:t>
                      </a:r>
                      <a:endParaRPr lang="en-IN" sz="1500"/>
                    </a:p>
                  </a:txBody>
                  <a:tcPr marL="75433" marR="75433" marT="37716" marB="37716" anchor="ctr">
                    <a:lnL>
                      <a:noFill/>
                    </a:lnL>
                    <a:lnR>
                      <a:noFill/>
                    </a:lnR>
                    <a:lnT>
                      <a:noFill/>
                    </a:lnT>
                    <a:lnB>
                      <a:noFill/>
                    </a:lnB>
                    <a:noFill/>
                  </a:tcPr>
                </a:tc>
                <a:tc>
                  <a:txBody>
                    <a:bodyPr/>
                    <a:lstStyle/>
                    <a:p>
                      <a:pPr>
                        <a:buNone/>
                      </a:pPr>
                      <a:r>
                        <a:rPr lang="en-US" sz="1500"/>
                        <a:t>Detect negative prices or invalid dates</a:t>
                      </a:r>
                    </a:p>
                  </a:txBody>
                  <a:tcPr marL="75433" marR="75433" marT="37716" marB="37716" anchor="ctr">
                    <a:lnL>
                      <a:noFill/>
                    </a:lnL>
                    <a:lnR>
                      <a:noFill/>
                    </a:lnR>
                    <a:lnT>
                      <a:noFill/>
                    </a:lnT>
                    <a:lnB>
                      <a:noFill/>
                    </a:lnB>
                    <a:noFill/>
                  </a:tcPr>
                </a:tc>
                <a:tc>
                  <a:txBody>
                    <a:bodyPr/>
                    <a:lstStyle/>
                    <a:p>
                      <a:pPr>
                        <a:buNone/>
                      </a:pPr>
                      <a:r>
                        <a:rPr lang="en-IN" sz="1500"/>
                        <a:t>Identify abnormal values</a:t>
                      </a:r>
                    </a:p>
                  </a:txBody>
                  <a:tcPr marL="75433" marR="75433" marT="37716" marB="37716" anchor="ctr">
                    <a:lnL>
                      <a:noFill/>
                    </a:lnL>
                    <a:lnR>
                      <a:noFill/>
                    </a:lnR>
                    <a:lnT>
                      <a:noFill/>
                    </a:lnT>
                    <a:lnB>
                      <a:noFill/>
                    </a:lnB>
                    <a:noFill/>
                  </a:tcPr>
                </a:tc>
                <a:extLst>
                  <a:ext uri="{0D108BD9-81ED-4DB2-BD59-A6C34878D82A}">
                    <a16:rowId xmlns:a16="http://schemas.microsoft.com/office/drawing/2014/main" val="3469853333"/>
                  </a:ext>
                </a:extLst>
              </a:tr>
              <a:tr h="528029">
                <a:tc>
                  <a:txBody>
                    <a:bodyPr/>
                    <a:lstStyle/>
                    <a:p>
                      <a:pPr>
                        <a:buNone/>
                      </a:pPr>
                      <a:r>
                        <a:rPr lang="en-IN" sz="1500" b="1"/>
                        <a:t>Transformation Validation</a:t>
                      </a:r>
                      <a:endParaRPr lang="en-IN" sz="1500"/>
                    </a:p>
                  </a:txBody>
                  <a:tcPr marL="75433" marR="75433" marT="37716" marB="37716" anchor="ctr">
                    <a:lnL>
                      <a:noFill/>
                    </a:lnL>
                    <a:lnR>
                      <a:noFill/>
                    </a:lnR>
                    <a:lnT>
                      <a:noFill/>
                    </a:lnT>
                    <a:lnB>
                      <a:noFill/>
                    </a:lnB>
                    <a:noFill/>
                  </a:tcPr>
                </a:tc>
                <a:tc>
                  <a:txBody>
                    <a:bodyPr/>
                    <a:lstStyle/>
                    <a:p>
                      <a:pPr>
                        <a:buNone/>
                      </a:pPr>
                      <a:r>
                        <a:rPr lang="en-US" sz="1500"/>
                        <a:t>Verify cleaned and derived data</a:t>
                      </a:r>
                    </a:p>
                  </a:txBody>
                  <a:tcPr marL="75433" marR="75433" marT="37716" marB="37716" anchor="ctr">
                    <a:lnL>
                      <a:noFill/>
                    </a:lnL>
                    <a:lnR>
                      <a:noFill/>
                    </a:lnR>
                    <a:lnT>
                      <a:noFill/>
                    </a:lnT>
                    <a:lnB>
                      <a:noFill/>
                    </a:lnB>
                    <a:noFill/>
                  </a:tcPr>
                </a:tc>
                <a:tc>
                  <a:txBody>
                    <a:bodyPr/>
                    <a:lstStyle/>
                    <a:p>
                      <a:pPr>
                        <a:buNone/>
                      </a:pPr>
                      <a:r>
                        <a:rPr lang="en-IN" sz="1500"/>
                        <a:t>Ensure correct data processing</a:t>
                      </a:r>
                    </a:p>
                  </a:txBody>
                  <a:tcPr marL="75433" marR="75433" marT="37716" marB="37716" anchor="ctr">
                    <a:lnL>
                      <a:noFill/>
                    </a:lnL>
                    <a:lnR>
                      <a:noFill/>
                    </a:lnR>
                    <a:lnT>
                      <a:noFill/>
                    </a:lnT>
                    <a:lnB>
                      <a:noFill/>
                    </a:lnB>
                    <a:noFill/>
                  </a:tcPr>
                </a:tc>
                <a:extLst>
                  <a:ext uri="{0D108BD9-81ED-4DB2-BD59-A6C34878D82A}">
                    <a16:rowId xmlns:a16="http://schemas.microsoft.com/office/drawing/2014/main" val="2282151223"/>
                  </a:ext>
                </a:extLst>
              </a:tr>
              <a:tr h="528029">
                <a:tc>
                  <a:txBody>
                    <a:bodyPr/>
                    <a:lstStyle/>
                    <a:p>
                      <a:pPr>
                        <a:buNone/>
                      </a:pPr>
                      <a:r>
                        <a:rPr lang="en-IN" sz="1500" b="1"/>
                        <a:t>Load Validation</a:t>
                      </a:r>
                      <a:endParaRPr lang="en-IN" sz="1500"/>
                    </a:p>
                  </a:txBody>
                  <a:tcPr marL="75433" marR="75433" marT="37716" marB="37716" anchor="ctr">
                    <a:lnL>
                      <a:noFill/>
                    </a:lnL>
                    <a:lnR>
                      <a:noFill/>
                    </a:lnR>
                    <a:lnT>
                      <a:noFill/>
                    </a:lnT>
                    <a:lnB>
                      <a:noFill/>
                    </a:lnB>
                    <a:noFill/>
                  </a:tcPr>
                </a:tc>
                <a:tc>
                  <a:txBody>
                    <a:bodyPr/>
                    <a:lstStyle/>
                    <a:p>
                      <a:pPr>
                        <a:buNone/>
                      </a:pPr>
                      <a:r>
                        <a:rPr lang="en-IN" sz="1500"/>
                        <a:t>Compare source vs. target records</a:t>
                      </a:r>
                    </a:p>
                  </a:txBody>
                  <a:tcPr marL="75433" marR="75433" marT="37716" marB="37716" anchor="ctr">
                    <a:lnL>
                      <a:noFill/>
                    </a:lnL>
                    <a:lnR>
                      <a:noFill/>
                    </a:lnR>
                    <a:lnT>
                      <a:noFill/>
                    </a:lnT>
                    <a:lnB>
                      <a:noFill/>
                    </a:lnB>
                    <a:noFill/>
                  </a:tcPr>
                </a:tc>
                <a:tc>
                  <a:txBody>
                    <a:bodyPr/>
                    <a:lstStyle/>
                    <a:p>
                      <a:pPr>
                        <a:buNone/>
                      </a:pPr>
                      <a:r>
                        <a:rPr lang="en-IN" sz="1500" dirty="0"/>
                        <a:t>Confirm successful data loading</a:t>
                      </a:r>
                    </a:p>
                  </a:txBody>
                  <a:tcPr marL="75433" marR="75433" marT="37716" marB="37716" anchor="ctr">
                    <a:lnL>
                      <a:noFill/>
                    </a:lnL>
                    <a:lnR>
                      <a:noFill/>
                    </a:lnR>
                    <a:lnT>
                      <a:noFill/>
                    </a:lnT>
                    <a:lnB>
                      <a:noFill/>
                    </a:lnB>
                    <a:noFill/>
                  </a:tcPr>
                </a:tc>
                <a:extLst>
                  <a:ext uri="{0D108BD9-81ED-4DB2-BD59-A6C34878D82A}">
                    <a16:rowId xmlns:a16="http://schemas.microsoft.com/office/drawing/2014/main" val="204369422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0F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4600747" cy="615553"/>
          </a:xfrm>
          <a:prstGeom prst="rect">
            <a:avLst/>
          </a:prstGeom>
          <a:noFill/>
        </p:spPr>
        <p:txBody>
          <a:bodyPr wrap="none">
            <a:spAutoFit/>
          </a:bodyPr>
          <a:lstStyle/>
          <a:p>
            <a:r>
              <a:rPr sz="2400" b="1" dirty="0">
                <a:solidFill>
                  <a:srgbClr val="FFFFFF"/>
                </a:solidFill>
              </a:rPr>
              <a:t>Testing Strategy and SQL Scenarios</a:t>
            </a:r>
          </a:p>
          <a:p>
            <a:endParaRPr sz="1000" dirty="0">
              <a:solidFill>
                <a:srgbClr val="C8CED6"/>
              </a:solidFill>
            </a:endParaRP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10</a:t>
            </a:r>
          </a:p>
        </p:txBody>
      </p:sp>
      <p:sp>
        <p:nvSpPr>
          <p:cNvPr id="5" name="Rounded Rectangle 4"/>
          <p:cNvSpPr/>
          <p:nvPr/>
        </p:nvSpPr>
        <p:spPr>
          <a:xfrm>
            <a:off x="594360" y="1097280"/>
            <a:ext cx="5303520" cy="4480560"/>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097280"/>
            <a:ext cx="5303520" cy="109728"/>
          </a:xfrm>
          <a:prstGeom prst="rect">
            <a:avLst/>
          </a:prstGeom>
          <a:solidFill>
            <a:srgbClr val="2254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72200" y="1097280"/>
            <a:ext cx="5394960" cy="4480560"/>
          </a:xfrm>
          <a:prstGeom prst="roundRect">
            <a:avLst/>
          </a:prstGeom>
          <a:solidFill>
            <a:srgbClr val="F5F7FA"/>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0" name="Table 9">
            <a:extLst>
              <a:ext uri="{FF2B5EF4-FFF2-40B4-BE49-F238E27FC236}">
                <a16:creationId xmlns:a16="http://schemas.microsoft.com/office/drawing/2014/main" id="{C8BADEB2-A475-9600-33DC-F431653F1594}"/>
              </a:ext>
            </a:extLst>
          </p:cNvPr>
          <p:cNvGraphicFramePr>
            <a:graphicFrameLocks noGrp="1"/>
          </p:cNvGraphicFramePr>
          <p:nvPr>
            <p:extLst>
              <p:ext uri="{D42A27DB-BD31-4B8C-83A1-F6EECF244321}">
                <p14:modId xmlns:p14="http://schemas.microsoft.com/office/powerpoint/2010/main" val="593880306"/>
              </p:ext>
            </p:extLst>
          </p:nvPr>
        </p:nvGraphicFramePr>
        <p:xfrm>
          <a:off x="853440" y="1622901"/>
          <a:ext cx="4761914" cy="3441467"/>
        </p:xfrm>
        <a:graphic>
          <a:graphicData uri="http://schemas.openxmlformats.org/drawingml/2006/table">
            <a:tbl>
              <a:tblPr/>
              <a:tblGrid>
                <a:gridCol w="2380957">
                  <a:extLst>
                    <a:ext uri="{9D8B030D-6E8A-4147-A177-3AD203B41FA5}">
                      <a16:colId xmlns:a16="http://schemas.microsoft.com/office/drawing/2014/main" val="1787727369"/>
                    </a:ext>
                  </a:extLst>
                </a:gridCol>
                <a:gridCol w="2380957">
                  <a:extLst>
                    <a:ext uri="{9D8B030D-6E8A-4147-A177-3AD203B41FA5}">
                      <a16:colId xmlns:a16="http://schemas.microsoft.com/office/drawing/2014/main" val="2293795686"/>
                    </a:ext>
                  </a:extLst>
                </a:gridCol>
              </a:tblGrid>
              <a:tr h="300446">
                <a:tc>
                  <a:txBody>
                    <a:bodyPr/>
                    <a:lstStyle/>
                    <a:p>
                      <a:pPr>
                        <a:buNone/>
                      </a:pPr>
                      <a:r>
                        <a:rPr lang="en-IN" sz="1050" b="1"/>
                        <a:t>Testing Strategy</a:t>
                      </a:r>
                      <a:endParaRPr lang="en-IN" sz="1050"/>
                    </a:p>
                  </a:txBody>
                  <a:tcPr anchor="ctr">
                    <a:lnL>
                      <a:noFill/>
                    </a:lnL>
                    <a:lnR>
                      <a:noFill/>
                    </a:lnR>
                    <a:lnT>
                      <a:noFill/>
                    </a:lnT>
                    <a:lnB>
                      <a:noFill/>
                    </a:lnB>
                    <a:noFill/>
                  </a:tcPr>
                </a:tc>
                <a:tc>
                  <a:txBody>
                    <a:bodyPr/>
                    <a:lstStyle/>
                    <a:p>
                      <a:pPr>
                        <a:buNone/>
                      </a:pPr>
                      <a:r>
                        <a:rPr lang="en-IN" sz="1050" b="1"/>
                        <a:t>Description</a:t>
                      </a:r>
                      <a:endParaRPr lang="en-IN" sz="1050"/>
                    </a:p>
                  </a:txBody>
                  <a:tcPr anchor="ctr">
                    <a:lnL>
                      <a:noFill/>
                    </a:lnL>
                    <a:lnR>
                      <a:noFill/>
                    </a:lnR>
                    <a:lnT>
                      <a:noFill/>
                    </a:lnT>
                    <a:lnB>
                      <a:noFill/>
                    </a:lnB>
                    <a:noFill/>
                  </a:tcPr>
                </a:tc>
                <a:extLst>
                  <a:ext uri="{0D108BD9-81ED-4DB2-BD59-A6C34878D82A}">
                    <a16:rowId xmlns:a16="http://schemas.microsoft.com/office/drawing/2014/main" val="2568897461"/>
                  </a:ext>
                </a:extLst>
              </a:tr>
              <a:tr h="491638">
                <a:tc>
                  <a:txBody>
                    <a:bodyPr/>
                    <a:lstStyle/>
                    <a:p>
                      <a:pPr>
                        <a:buNone/>
                      </a:pPr>
                      <a:r>
                        <a:rPr lang="en-IN" sz="1050" b="1"/>
                        <a:t>Unit Testing</a:t>
                      </a:r>
                      <a:endParaRPr lang="en-IN" sz="1050"/>
                    </a:p>
                  </a:txBody>
                  <a:tcPr anchor="ctr">
                    <a:lnL>
                      <a:noFill/>
                    </a:lnL>
                    <a:lnR>
                      <a:noFill/>
                    </a:lnR>
                    <a:lnT>
                      <a:noFill/>
                    </a:lnT>
                    <a:lnB>
                      <a:noFill/>
                    </a:lnB>
                    <a:noFill/>
                  </a:tcPr>
                </a:tc>
                <a:tc>
                  <a:txBody>
                    <a:bodyPr/>
                    <a:lstStyle/>
                    <a:p>
                      <a:pPr>
                        <a:buNone/>
                      </a:pPr>
                      <a:r>
                        <a:rPr lang="en-US" sz="1050"/>
                        <a:t>Validate each data extraction, cleaning, and transformation step independently.</a:t>
                      </a:r>
                    </a:p>
                  </a:txBody>
                  <a:tcPr anchor="ctr">
                    <a:lnL>
                      <a:noFill/>
                    </a:lnL>
                    <a:lnR>
                      <a:noFill/>
                    </a:lnR>
                    <a:lnT>
                      <a:noFill/>
                    </a:lnT>
                    <a:lnB>
                      <a:noFill/>
                    </a:lnB>
                    <a:noFill/>
                  </a:tcPr>
                </a:tc>
                <a:extLst>
                  <a:ext uri="{0D108BD9-81ED-4DB2-BD59-A6C34878D82A}">
                    <a16:rowId xmlns:a16="http://schemas.microsoft.com/office/drawing/2014/main" val="1677706802"/>
                  </a:ext>
                </a:extLst>
              </a:tr>
              <a:tr h="491638">
                <a:tc>
                  <a:txBody>
                    <a:bodyPr/>
                    <a:lstStyle/>
                    <a:p>
                      <a:pPr>
                        <a:buNone/>
                      </a:pPr>
                      <a:r>
                        <a:rPr lang="en-IN" sz="1050" b="1"/>
                        <a:t>Source-to-Target Reconciliation</a:t>
                      </a:r>
                      <a:endParaRPr lang="en-IN" sz="1050"/>
                    </a:p>
                  </a:txBody>
                  <a:tcPr anchor="ctr">
                    <a:lnL>
                      <a:noFill/>
                    </a:lnL>
                    <a:lnR>
                      <a:noFill/>
                    </a:lnR>
                    <a:lnT>
                      <a:noFill/>
                    </a:lnT>
                    <a:lnB>
                      <a:noFill/>
                    </a:lnB>
                    <a:noFill/>
                  </a:tcPr>
                </a:tc>
                <a:tc>
                  <a:txBody>
                    <a:bodyPr/>
                    <a:lstStyle/>
                    <a:p>
                      <a:pPr>
                        <a:buNone/>
                      </a:pPr>
                      <a:r>
                        <a:rPr lang="en-US" sz="1050"/>
                        <a:t>Compare source and target row counts to ensure complete data loading.</a:t>
                      </a:r>
                    </a:p>
                  </a:txBody>
                  <a:tcPr anchor="ctr">
                    <a:lnL>
                      <a:noFill/>
                    </a:lnL>
                    <a:lnR>
                      <a:noFill/>
                    </a:lnR>
                    <a:lnT>
                      <a:noFill/>
                    </a:lnT>
                    <a:lnB>
                      <a:noFill/>
                    </a:lnB>
                    <a:noFill/>
                  </a:tcPr>
                </a:tc>
                <a:extLst>
                  <a:ext uri="{0D108BD9-81ED-4DB2-BD59-A6C34878D82A}">
                    <a16:rowId xmlns:a16="http://schemas.microsoft.com/office/drawing/2014/main" val="3567670295"/>
                  </a:ext>
                </a:extLst>
              </a:tr>
              <a:tr h="491638">
                <a:tc>
                  <a:txBody>
                    <a:bodyPr/>
                    <a:lstStyle/>
                    <a:p>
                      <a:pPr>
                        <a:buNone/>
                      </a:pPr>
                      <a:r>
                        <a:rPr lang="en-IN" sz="1050" b="1"/>
                        <a:t>Data Quality Testing</a:t>
                      </a:r>
                      <a:endParaRPr lang="en-IN" sz="1050"/>
                    </a:p>
                  </a:txBody>
                  <a:tcPr anchor="ctr">
                    <a:lnL>
                      <a:noFill/>
                    </a:lnL>
                    <a:lnR>
                      <a:noFill/>
                    </a:lnR>
                    <a:lnT>
                      <a:noFill/>
                    </a:lnT>
                    <a:lnB>
                      <a:noFill/>
                    </a:lnB>
                    <a:noFill/>
                  </a:tcPr>
                </a:tc>
                <a:tc>
                  <a:txBody>
                    <a:bodyPr/>
                    <a:lstStyle/>
                    <a:p>
                      <a:pPr>
                        <a:buNone/>
                      </a:pPr>
                      <a:r>
                        <a:rPr lang="en-US" sz="1050"/>
                        <a:t>Validate null values, data types, ranges, and business rules for critical fields.</a:t>
                      </a:r>
                    </a:p>
                  </a:txBody>
                  <a:tcPr anchor="ctr">
                    <a:lnL>
                      <a:noFill/>
                    </a:lnL>
                    <a:lnR>
                      <a:noFill/>
                    </a:lnR>
                    <a:lnT>
                      <a:noFill/>
                    </a:lnT>
                    <a:lnB>
                      <a:noFill/>
                    </a:lnB>
                    <a:noFill/>
                  </a:tcPr>
                </a:tc>
                <a:extLst>
                  <a:ext uri="{0D108BD9-81ED-4DB2-BD59-A6C34878D82A}">
                    <a16:rowId xmlns:a16="http://schemas.microsoft.com/office/drawing/2014/main" val="1657198758"/>
                  </a:ext>
                </a:extLst>
              </a:tr>
              <a:tr h="682831">
                <a:tc>
                  <a:txBody>
                    <a:bodyPr/>
                    <a:lstStyle/>
                    <a:p>
                      <a:pPr>
                        <a:buNone/>
                      </a:pPr>
                      <a:r>
                        <a:rPr lang="en-IN" sz="1050" b="1"/>
                        <a:t>Integration Testing</a:t>
                      </a:r>
                      <a:endParaRPr lang="en-IN" sz="1050"/>
                    </a:p>
                  </a:txBody>
                  <a:tcPr anchor="ctr">
                    <a:lnL>
                      <a:noFill/>
                    </a:lnL>
                    <a:lnR>
                      <a:noFill/>
                    </a:lnR>
                    <a:lnT>
                      <a:noFill/>
                    </a:lnT>
                    <a:lnB>
                      <a:noFill/>
                    </a:lnB>
                    <a:noFill/>
                  </a:tcPr>
                </a:tc>
                <a:tc>
                  <a:txBody>
                    <a:bodyPr/>
                    <a:lstStyle/>
                    <a:p>
                      <a:pPr>
                        <a:buNone/>
                      </a:pPr>
                      <a:r>
                        <a:rPr lang="en-US" sz="1050"/>
                        <a:t>Verify end-to-end data flow from Yahoo Finance API → Python → SQL Server → Power BI.</a:t>
                      </a:r>
                    </a:p>
                  </a:txBody>
                  <a:tcPr anchor="ctr">
                    <a:lnL>
                      <a:noFill/>
                    </a:lnL>
                    <a:lnR>
                      <a:noFill/>
                    </a:lnR>
                    <a:lnT>
                      <a:noFill/>
                    </a:lnT>
                    <a:lnB>
                      <a:noFill/>
                    </a:lnB>
                    <a:noFill/>
                  </a:tcPr>
                </a:tc>
                <a:extLst>
                  <a:ext uri="{0D108BD9-81ED-4DB2-BD59-A6C34878D82A}">
                    <a16:rowId xmlns:a16="http://schemas.microsoft.com/office/drawing/2014/main" val="1419722507"/>
                  </a:ext>
                </a:extLst>
              </a:tr>
              <a:tr h="491638">
                <a:tc>
                  <a:txBody>
                    <a:bodyPr/>
                    <a:lstStyle/>
                    <a:p>
                      <a:pPr>
                        <a:buNone/>
                      </a:pPr>
                      <a:r>
                        <a:rPr lang="en-IN" sz="1050" b="1"/>
                        <a:t>Regression Testing</a:t>
                      </a:r>
                      <a:endParaRPr lang="en-IN" sz="1050"/>
                    </a:p>
                  </a:txBody>
                  <a:tcPr anchor="ctr">
                    <a:lnL>
                      <a:noFill/>
                    </a:lnL>
                    <a:lnR>
                      <a:noFill/>
                    </a:lnR>
                    <a:lnT>
                      <a:noFill/>
                    </a:lnT>
                    <a:lnB>
                      <a:noFill/>
                    </a:lnB>
                    <a:noFill/>
                  </a:tcPr>
                </a:tc>
                <a:tc>
                  <a:txBody>
                    <a:bodyPr/>
                    <a:lstStyle/>
                    <a:p>
                      <a:pPr>
                        <a:buNone/>
                      </a:pPr>
                      <a:r>
                        <a:rPr lang="en-US" sz="1050"/>
                        <a:t>Ensure new updates or data refreshes do not affect existing functionality.</a:t>
                      </a:r>
                    </a:p>
                  </a:txBody>
                  <a:tcPr anchor="ctr">
                    <a:lnL>
                      <a:noFill/>
                    </a:lnL>
                    <a:lnR>
                      <a:noFill/>
                    </a:lnR>
                    <a:lnT>
                      <a:noFill/>
                    </a:lnT>
                    <a:lnB>
                      <a:noFill/>
                    </a:lnB>
                    <a:noFill/>
                  </a:tcPr>
                </a:tc>
                <a:extLst>
                  <a:ext uri="{0D108BD9-81ED-4DB2-BD59-A6C34878D82A}">
                    <a16:rowId xmlns:a16="http://schemas.microsoft.com/office/drawing/2014/main" val="418231602"/>
                  </a:ext>
                </a:extLst>
              </a:tr>
              <a:tr h="491638">
                <a:tc>
                  <a:txBody>
                    <a:bodyPr/>
                    <a:lstStyle/>
                    <a:p>
                      <a:pPr>
                        <a:buNone/>
                      </a:pPr>
                      <a:r>
                        <a:rPr lang="en-IN" sz="1050" b="1"/>
                        <a:t>Smoke Testing</a:t>
                      </a:r>
                      <a:endParaRPr lang="en-IN" sz="1050"/>
                    </a:p>
                  </a:txBody>
                  <a:tcPr anchor="ctr">
                    <a:lnL>
                      <a:noFill/>
                    </a:lnL>
                    <a:lnR>
                      <a:noFill/>
                    </a:lnR>
                    <a:lnT>
                      <a:noFill/>
                    </a:lnT>
                    <a:lnB>
                      <a:noFill/>
                    </a:lnB>
                    <a:noFill/>
                  </a:tcPr>
                </a:tc>
                <a:tc>
                  <a:txBody>
                    <a:bodyPr/>
                    <a:lstStyle/>
                    <a:p>
                      <a:pPr>
                        <a:buNone/>
                      </a:pPr>
                      <a:r>
                        <a:rPr lang="en-US" sz="1050" dirty="0"/>
                        <a:t>Perform basic validation after every refresh to confirm pipeline stability.</a:t>
                      </a:r>
                    </a:p>
                  </a:txBody>
                  <a:tcPr anchor="ctr">
                    <a:lnL>
                      <a:noFill/>
                    </a:lnL>
                    <a:lnR>
                      <a:noFill/>
                    </a:lnR>
                    <a:lnT>
                      <a:noFill/>
                    </a:lnT>
                    <a:lnB>
                      <a:noFill/>
                    </a:lnB>
                    <a:noFill/>
                  </a:tcPr>
                </a:tc>
                <a:extLst>
                  <a:ext uri="{0D108BD9-81ED-4DB2-BD59-A6C34878D82A}">
                    <a16:rowId xmlns:a16="http://schemas.microsoft.com/office/drawing/2014/main" val="4219276791"/>
                  </a:ext>
                </a:extLst>
              </a:tr>
            </a:tbl>
          </a:graphicData>
        </a:graphic>
      </p:graphicFrame>
      <p:graphicFrame>
        <p:nvGraphicFramePr>
          <p:cNvPr id="12" name="Table 11">
            <a:extLst>
              <a:ext uri="{FF2B5EF4-FFF2-40B4-BE49-F238E27FC236}">
                <a16:creationId xmlns:a16="http://schemas.microsoft.com/office/drawing/2014/main" id="{23483AFD-DB05-BFEE-BD9A-742509814518}"/>
              </a:ext>
            </a:extLst>
          </p:cNvPr>
          <p:cNvGraphicFramePr>
            <a:graphicFrameLocks noGrp="1"/>
          </p:cNvGraphicFramePr>
          <p:nvPr>
            <p:extLst>
              <p:ext uri="{D42A27DB-BD31-4B8C-83A1-F6EECF244321}">
                <p14:modId xmlns:p14="http://schemas.microsoft.com/office/powerpoint/2010/main" val="2524912078"/>
              </p:ext>
            </p:extLst>
          </p:nvPr>
        </p:nvGraphicFramePr>
        <p:xfrm>
          <a:off x="6396110" y="1336431"/>
          <a:ext cx="4988170" cy="3985843"/>
        </p:xfrm>
        <a:graphic>
          <a:graphicData uri="http://schemas.openxmlformats.org/drawingml/2006/table">
            <a:tbl>
              <a:tblPr/>
              <a:tblGrid>
                <a:gridCol w="2494085">
                  <a:extLst>
                    <a:ext uri="{9D8B030D-6E8A-4147-A177-3AD203B41FA5}">
                      <a16:colId xmlns:a16="http://schemas.microsoft.com/office/drawing/2014/main" val="428267925"/>
                    </a:ext>
                  </a:extLst>
                </a:gridCol>
                <a:gridCol w="2494085">
                  <a:extLst>
                    <a:ext uri="{9D8B030D-6E8A-4147-A177-3AD203B41FA5}">
                      <a16:colId xmlns:a16="http://schemas.microsoft.com/office/drawing/2014/main" val="1883065614"/>
                    </a:ext>
                  </a:extLst>
                </a:gridCol>
              </a:tblGrid>
              <a:tr h="265723">
                <a:tc>
                  <a:txBody>
                    <a:bodyPr/>
                    <a:lstStyle/>
                    <a:p>
                      <a:pPr>
                        <a:buNone/>
                      </a:pPr>
                      <a:r>
                        <a:rPr lang="en-IN" sz="1050" b="1"/>
                        <a:t>SQL Test Scenario</a:t>
                      </a:r>
                      <a:endParaRPr lang="en-IN" sz="1050"/>
                    </a:p>
                  </a:txBody>
                  <a:tcPr marL="75433" marR="75433" marT="37716" marB="37716" anchor="ctr">
                    <a:lnL>
                      <a:noFill/>
                    </a:lnL>
                    <a:lnR>
                      <a:noFill/>
                    </a:lnR>
                    <a:lnT>
                      <a:noFill/>
                    </a:lnT>
                    <a:lnB>
                      <a:noFill/>
                    </a:lnB>
                    <a:noFill/>
                  </a:tcPr>
                </a:tc>
                <a:tc>
                  <a:txBody>
                    <a:bodyPr/>
                    <a:lstStyle/>
                    <a:p>
                      <a:pPr>
                        <a:buNone/>
                      </a:pPr>
                      <a:r>
                        <a:rPr lang="en-IN" sz="1050" b="1"/>
                        <a:t>Validation Performed</a:t>
                      </a:r>
                      <a:endParaRPr lang="en-IN" sz="1050"/>
                    </a:p>
                  </a:txBody>
                  <a:tcPr marL="75433" marR="75433" marT="37716" marB="37716" anchor="ctr">
                    <a:lnL>
                      <a:noFill/>
                    </a:lnL>
                    <a:lnR>
                      <a:noFill/>
                    </a:lnR>
                    <a:lnT>
                      <a:noFill/>
                    </a:lnT>
                    <a:lnB>
                      <a:noFill/>
                    </a:lnB>
                    <a:noFill/>
                  </a:tcPr>
                </a:tc>
                <a:extLst>
                  <a:ext uri="{0D108BD9-81ED-4DB2-BD59-A6C34878D82A}">
                    <a16:rowId xmlns:a16="http://schemas.microsoft.com/office/drawing/2014/main" val="592720158"/>
                  </a:ext>
                </a:extLst>
              </a:tr>
              <a:tr h="465015">
                <a:tc>
                  <a:txBody>
                    <a:bodyPr/>
                    <a:lstStyle/>
                    <a:p>
                      <a:pPr>
                        <a:buNone/>
                      </a:pPr>
                      <a:r>
                        <a:rPr lang="en-IN" sz="1050" b="1" dirty="0"/>
                        <a:t>Record Count Validation</a:t>
                      </a:r>
                      <a:endParaRPr lang="en-IN" sz="1050" dirty="0"/>
                    </a:p>
                  </a:txBody>
                  <a:tcPr marL="75433" marR="75433" marT="37716" marB="37716" anchor="ctr">
                    <a:lnL>
                      <a:noFill/>
                    </a:lnL>
                    <a:lnR>
                      <a:noFill/>
                    </a:lnR>
                    <a:lnT>
                      <a:noFill/>
                    </a:lnT>
                    <a:lnB>
                      <a:noFill/>
                    </a:lnB>
                    <a:noFill/>
                  </a:tcPr>
                </a:tc>
                <a:tc>
                  <a:txBody>
                    <a:bodyPr/>
                    <a:lstStyle/>
                    <a:p>
                      <a:pPr>
                        <a:buNone/>
                      </a:pPr>
                      <a:r>
                        <a:rPr lang="en-US" sz="1050"/>
                        <a:t>Verify source and target row counts match after loading.</a:t>
                      </a:r>
                    </a:p>
                  </a:txBody>
                  <a:tcPr marL="75433" marR="75433" marT="37716" marB="37716" anchor="ctr">
                    <a:lnL>
                      <a:noFill/>
                    </a:lnL>
                    <a:lnR>
                      <a:noFill/>
                    </a:lnR>
                    <a:lnT>
                      <a:noFill/>
                    </a:lnT>
                    <a:lnB>
                      <a:noFill/>
                    </a:lnB>
                    <a:noFill/>
                  </a:tcPr>
                </a:tc>
                <a:extLst>
                  <a:ext uri="{0D108BD9-81ED-4DB2-BD59-A6C34878D82A}">
                    <a16:rowId xmlns:a16="http://schemas.microsoft.com/office/drawing/2014/main" val="772746703"/>
                  </a:ext>
                </a:extLst>
              </a:tr>
              <a:tr h="465015">
                <a:tc>
                  <a:txBody>
                    <a:bodyPr/>
                    <a:lstStyle/>
                    <a:p>
                      <a:pPr>
                        <a:buNone/>
                      </a:pPr>
                      <a:r>
                        <a:rPr lang="en-IN" sz="1050" b="1"/>
                        <a:t>Duplicate Record Check</a:t>
                      </a:r>
                      <a:endParaRPr lang="en-IN" sz="1050"/>
                    </a:p>
                  </a:txBody>
                  <a:tcPr marL="75433" marR="75433" marT="37716" marB="37716" anchor="ctr">
                    <a:lnL>
                      <a:noFill/>
                    </a:lnL>
                    <a:lnR>
                      <a:noFill/>
                    </a:lnR>
                    <a:lnT>
                      <a:noFill/>
                    </a:lnT>
                    <a:lnB>
                      <a:noFill/>
                    </a:lnB>
                    <a:noFill/>
                  </a:tcPr>
                </a:tc>
                <a:tc>
                  <a:txBody>
                    <a:bodyPr/>
                    <a:lstStyle/>
                    <a:p>
                      <a:pPr>
                        <a:buNone/>
                      </a:pPr>
                      <a:r>
                        <a:rPr lang="en-US" sz="1050" dirty="0"/>
                        <a:t>Ensure each </a:t>
                      </a:r>
                      <a:r>
                        <a:rPr lang="en-US" sz="1050" b="1" dirty="0"/>
                        <a:t>Stock + Date</a:t>
                      </a:r>
                      <a:r>
                        <a:rPr lang="en-US" sz="1050" dirty="0"/>
                        <a:t> combination is unique.</a:t>
                      </a:r>
                    </a:p>
                  </a:txBody>
                  <a:tcPr marL="75433" marR="75433" marT="37716" marB="37716" anchor="ctr">
                    <a:lnL>
                      <a:noFill/>
                    </a:lnL>
                    <a:lnR>
                      <a:noFill/>
                    </a:lnR>
                    <a:lnT>
                      <a:noFill/>
                    </a:lnT>
                    <a:lnB>
                      <a:noFill/>
                    </a:lnB>
                    <a:noFill/>
                  </a:tcPr>
                </a:tc>
                <a:extLst>
                  <a:ext uri="{0D108BD9-81ED-4DB2-BD59-A6C34878D82A}">
                    <a16:rowId xmlns:a16="http://schemas.microsoft.com/office/drawing/2014/main" val="100992130"/>
                  </a:ext>
                </a:extLst>
              </a:tr>
              <a:tr h="465015">
                <a:tc>
                  <a:txBody>
                    <a:bodyPr/>
                    <a:lstStyle/>
                    <a:p>
                      <a:pPr>
                        <a:buNone/>
                      </a:pPr>
                      <a:r>
                        <a:rPr lang="en-IN" sz="1050" b="1" dirty="0"/>
                        <a:t>NULL Value Validation</a:t>
                      </a:r>
                      <a:endParaRPr lang="en-IN" sz="1050" dirty="0"/>
                    </a:p>
                  </a:txBody>
                  <a:tcPr marL="75433" marR="75433" marT="37716" marB="37716" anchor="ctr">
                    <a:lnL>
                      <a:noFill/>
                    </a:lnL>
                    <a:lnR>
                      <a:noFill/>
                    </a:lnR>
                    <a:lnT>
                      <a:noFill/>
                    </a:lnT>
                    <a:lnB>
                      <a:noFill/>
                    </a:lnB>
                    <a:noFill/>
                  </a:tcPr>
                </a:tc>
                <a:tc>
                  <a:txBody>
                    <a:bodyPr/>
                    <a:lstStyle/>
                    <a:p>
                      <a:pPr>
                        <a:buNone/>
                      </a:pPr>
                      <a:r>
                        <a:rPr lang="en-US" sz="1050" dirty="0"/>
                        <a:t>Check mandatory columns for missing or NULL values.</a:t>
                      </a:r>
                    </a:p>
                  </a:txBody>
                  <a:tcPr marL="75433" marR="75433" marT="37716" marB="37716" anchor="ctr">
                    <a:lnL>
                      <a:noFill/>
                    </a:lnL>
                    <a:lnR>
                      <a:noFill/>
                    </a:lnR>
                    <a:lnT>
                      <a:noFill/>
                    </a:lnT>
                    <a:lnB>
                      <a:noFill/>
                    </a:lnB>
                    <a:noFill/>
                  </a:tcPr>
                </a:tc>
                <a:extLst>
                  <a:ext uri="{0D108BD9-81ED-4DB2-BD59-A6C34878D82A}">
                    <a16:rowId xmlns:a16="http://schemas.microsoft.com/office/drawing/2014/main" val="1409433495"/>
                  </a:ext>
                </a:extLst>
              </a:tr>
              <a:tr h="465015">
                <a:tc>
                  <a:txBody>
                    <a:bodyPr/>
                    <a:lstStyle/>
                    <a:p>
                      <a:pPr>
                        <a:buNone/>
                      </a:pPr>
                      <a:r>
                        <a:rPr lang="en-IN" sz="1050" b="1"/>
                        <a:t>Price Validation</a:t>
                      </a:r>
                      <a:endParaRPr lang="en-IN" sz="1050"/>
                    </a:p>
                  </a:txBody>
                  <a:tcPr marL="75433" marR="75433" marT="37716" marB="37716" anchor="ctr">
                    <a:lnL>
                      <a:noFill/>
                    </a:lnL>
                    <a:lnR>
                      <a:noFill/>
                    </a:lnR>
                    <a:lnT>
                      <a:noFill/>
                    </a:lnT>
                    <a:lnB>
                      <a:noFill/>
                    </a:lnB>
                    <a:noFill/>
                  </a:tcPr>
                </a:tc>
                <a:tc>
                  <a:txBody>
                    <a:bodyPr/>
                    <a:lstStyle/>
                    <a:p>
                      <a:pPr>
                        <a:buNone/>
                      </a:pPr>
                      <a:r>
                        <a:rPr lang="en-US" sz="1050"/>
                        <a:t>Verify OHLC values follow valid market rules (High ≥ Low, etc.).</a:t>
                      </a:r>
                    </a:p>
                  </a:txBody>
                  <a:tcPr marL="75433" marR="75433" marT="37716" marB="37716" anchor="ctr">
                    <a:lnL>
                      <a:noFill/>
                    </a:lnL>
                    <a:lnR>
                      <a:noFill/>
                    </a:lnR>
                    <a:lnT>
                      <a:noFill/>
                    </a:lnT>
                    <a:lnB>
                      <a:noFill/>
                    </a:lnB>
                    <a:noFill/>
                  </a:tcPr>
                </a:tc>
                <a:extLst>
                  <a:ext uri="{0D108BD9-81ED-4DB2-BD59-A6C34878D82A}">
                    <a16:rowId xmlns:a16="http://schemas.microsoft.com/office/drawing/2014/main" val="1902462666"/>
                  </a:ext>
                </a:extLst>
              </a:tr>
              <a:tr h="465015">
                <a:tc>
                  <a:txBody>
                    <a:bodyPr/>
                    <a:lstStyle/>
                    <a:p>
                      <a:pPr>
                        <a:buNone/>
                      </a:pPr>
                      <a:r>
                        <a:rPr lang="en-IN" sz="1050" b="1" dirty="0"/>
                        <a:t>Volume Validation</a:t>
                      </a:r>
                      <a:endParaRPr lang="en-IN" sz="1050" dirty="0"/>
                    </a:p>
                  </a:txBody>
                  <a:tcPr marL="75433" marR="75433" marT="37716" marB="37716" anchor="ctr">
                    <a:lnL>
                      <a:noFill/>
                    </a:lnL>
                    <a:lnR>
                      <a:noFill/>
                    </a:lnR>
                    <a:lnT>
                      <a:noFill/>
                    </a:lnT>
                    <a:lnB>
                      <a:noFill/>
                    </a:lnB>
                    <a:noFill/>
                  </a:tcPr>
                </a:tc>
                <a:tc>
                  <a:txBody>
                    <a:bodyPr/>
                    <a:lstStyle/>
                    <a:p>
                      <a:pPr>
                        <a:buNone/>
                      </a:pPr>
                      <a:r>
                        <a:rPr lang="en-IN" sz="1050"/>
                        <a:t>Ensure trading volume contains only valid positive values.</a:t>
                      </a:r>
                    </a:p>
                  </a:txBody>
                  <a:tcPr marL="75433" marR="75433" marT="37716" marB="37716" anchor="ctr">
                    <a:lnL>
                      <a:noFill/>
                    </a:lnL>
                    <a:lnR>
                      <a:noFill/>
                    </a:lnR>
                    <a:lnT>
                      <a:noFill/>
                    </a:lnT>
                    <a:lnB>
                      <a:noFill/>
                    </a:lnB>
                    <a:noFill/>
                  </a:tcPr>
                </a:tc>
                <a:extLst>
                  <a:ext uri="{0D108BD9-81ED-4DB2-BD59-A6C34878D82A}">
                    <a16:rowId xmlns:a16="http://schemas.microsoft.com/office/drawing/2014/main" val="2699285640"/>
                  </a:ext>
                </a:extLst>
              </a:tr>
              <a:tr h="465015">
                <a:tc>
                  <a:txBody>
                    <a:bodyPr/>
                    <a:lstStyle/>
                    <a:p>
                      <a:pPr>
                        <a:buNone/>
                      </a:pPr>
                      <a:r>
                        <a:rPr lang="en-IN" sz="1050" b="1" dirty="0"/>
                        <a:t>Aggregation Validation</a:t>
                      </a:r>
                      <a:endParaRPr lang="en-IN" sz="1050" dirty="0"/>
                    </a:p>
                  </a:txBody>
                  <a:tcPr marL="75433" marR="75433" marT="37716" marB="37716" anchor="ctr">
                    <a:lnL>
                      <a:noFill/>
                    </a:lnL>
                    <a:lnR>
                      <a:noFill/>
                    </a:lnR>
                    <a:lnT>
                      <a:noFill/>
                    </a:lnT>
                    <a:lnB>
                      <a:noFill/>
                    </a:lnB>
                    <a:noFill/>
                  </a:tcPr>
                </a:tc>
                <a:tc>
                  <a:txBody>
                    <a:bodyPr/>
                    <a:lstStyle/>
                    <a:p>
                      <a:pPr>
                        <a:buNone/>
                      </a:pPr>
                      <a:r>
                        <a:rPr lang="en-US" sz="1050"/>
                        <a:t>Validate SQL calculations such as AVG, SUM, MIN, MAX, and COUNT.</a:t>
                      </a:r>
                    </a:p>
                  </a:txBody>
                  <a:tcPr marL="75433" marR="75433" marT="37716" marB="37716" anchor="ctr">
                    <a:lnL>
                      <a:noFill/>
                    </a:lnL>
                    <a:lnR>
                      <a:noFill/>
                    </a:lnR>
                    <a:lnT>
                      <a:noFill/>
                    </a:lnT>
                    <a:lnB>
                      <a:noFill/>
                    </a:lnB>
                    <a:noFill/>
                  </a:tcPr>
                </a:tc>
                <a:extLst>
                  <a:ext uri="{0D108BD9-81ED-4DB2-BD59-A6C34878D82A}">
                    <a16:rowId xmlns:a16="http://schemas.microsoft.com/office/drawing/2014/main" val="3560894662"/>
                  </a:ext>
                </a:extLst>
              </a:tr>
              <a:tr h="465015">
                <a:tc>
                  <a:txBody>
                    <a:bodyPr/>
                    <a:lstStyle/>
                    <a:p>
                      <a:pPr>
                        <a:buNone/>
                      </a:pPr>
                      <a:r>
                        <a:rPr lang="en-IN" sz="1050" b="1"/>
                        <a:t>Date Validation</a:t>
                      </a:r>
                      <a:endParaRPr lang="en-IN" sz="1050"/>
                    </a:p>
                  </a:txBody>
                  <a:tcPr marL="75433" marR="75433" marT="37716" marB="37716" anchor="ctr">
                    <a:lnL>
                      <a:noFill/>
                    </a:lnL>
                    <a:lnR>
                      <a:noFill/>
                    </a:lnR>
                    <a:lnT>
                      <a:noFill/>
                    </a:lnT>
                    <a:lnB>
                      <a:noFill/>
                    </a:lnB>
                    <a:noFill/>
                  </a:tcPr>
                </a:tc>
                <a:tc>
                  <a:txBody>
                    <a:bodyPr/>
                    <a:lstStyle/>
                    <a:p>
                      <a:pPr>
                        <a:buNone/>
                      </a:pPr>
                      <a:r>
                        <a:rPr lang="en-US" sz="1050" dirty="0"/>
                        <a:t>Verify trading dates are valid and correctly ordered.</a:t>
                      </a:r>
                    </a:p>
                  </a:txBody>
                  <a:tcPr marL="75433" marR="75433" marT="37716" marB="37716" anchor="ctr">
                    <a:lnL>
                      <a:noFill/>
                    </a:lnL>
                    <a:lnR>
                      <a:noFill/>
                    </a:lnR>
                    <a:lnT>
                      <a:noFill/>
                    </a:lnT>
                    <a:lnB>
                      <a:noFill/>
                    </a:lnB>
                    <a:noFill/>
                  </a:tcPr>
                </a:tc>
                <a:extLst>
                  <a:ext uri="{0D108BD9-81ED-4DB2-BD59-A6C34878D82A}">
                    <a16:rowId xmlns:a16="http://schemas.microsoft.com/office/drawing/2014/main" val="214033750"/>
                  </a:ext>
                </a:extLst>
              </a:tr>
              <a:tr h="465015">
                <a:tc>
                  <a:txBody>
                    <a:bodyPr/>
                    <a:lstStyle/>
                    <a:p>
                      <a:pPr>
                        <a:buNone/>
                      </a:pPr>
                      <a:r>
                        <a:rPr lang="en-IN" sz="1050" b="1"/>
                        <a:t>Business Rule Validation</a:t>
                      </a:r>
                      <a:endParaRPr lang="en-IN" sz="1050"/>
                    </a:p>
                  </a:txBody>
                  <a:tcPr marL="75433" marR="75433" marT="37716" marB="37716" anchor="ctr">
                    <a:lnL>
                      <a:noFill/>
                    </a:lnL>
                    <a:lnR>
                      <a:noFill/>
                    </a:lnR>
                    <a:lnT>
                      <a:noFill/>
                    </a:lnT>
                    <a:lnB>
                      <a:noFill/>
                    </a:lnB>
                    <a:noFill/>
                  </a:tcPr>
                </a:tc>
                <a:tc>
                  <a:txBody>
                    <a:bodyPr/>
                    <a:lstStyle/>
                    <a:p>
                      <a:pPr>
                        <a:buNone/>
                      </a:pPr>
                      <a:r>
                        <a:rPr lang="en-US" sz="1050" dirty="0"/>
                        <a:t>Validate calculated metrics such as Daily Return and Moving Average.</a:t>
                      </a:r>
                    </a:p>
                  </a:txBody>
                  <a:tcPr marL="75433" marR="75433" marT="37716" marB="37716" anchor="ctr">
                    <a:lnL>
                      <a:noFill/>
                    </a:lnL>
                    <a:lnR>
                      <a:noFill/>
                    </a:lnR>
                    <a:lnT>
                      <a:noFill/>
                    </a:lnT>
                    <a:lnB>
                      <a:noFill/>
                    </a:lnB>
                    <a:noFill/>
                  </a:tcPr>
                </a:tc>
                <a:extLst>
                  <a:ext uri="{0D108BD9-81ED-4DB2-BD59-A6C34878D82A}">
                    <a16:rowId xmlns:a16="http://schemas.microsoft.com/office/drawing/2014/main" val="883524169"/>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12</a:t>
            </a:r>
          </a:p>
        </p:txBody>
      </p:sp>
      <p:pic>
        <p:nvPicPr>
          <p:cNvPr id="15" name="Picture 14">
            <a:extLst>
              <a:ext uri="{FF2B5EF4-FFF2-40B4-BE49-F238E27FC236}">
                <a16:creationId xmlns:a16="http://schemas.microsoft.com/office/drawing/2014/main" id="{40BE542C-9602-21C2-7617-DB258A26A89E}"/>
              </a:ext>
            </a:extLst>
          </p:cNvPr>
          <p:cNvPicPr>
            <a:picLocks noChangeAspect="1"/>
          </p:cNvPicPr>
          <p:nvPr/>
        </p:nvPicPr>
        <p:blipFill>
          <a:blip r:embed="rId2"/>
          <a:stretch>
            <a:fillRect/>
          </a:stretch>
        </p:blipFill>
        <p:spPr>
          <a:xfrm>
            <a:off x="0" y="93786"/>
            <a:ext cx="12063046" cy="67642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2340"/>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
          </a:xfrm>
          <a:prstGeom prst="rect">
            <a:avLst/>
          </a:prstGeom>
          <a:solidFill>
            <a:srgbClr val="0F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11480" y="109728"/>
            <a:ext cx="2342629" cy="615553"/>
          </a:xfrm>
          <a:prstGeom prst="rect">
            <a:avLst/>
          </a:prstGeom>
          <a:noFill/>
        </p:spPr>
        <p:txBody>
          <a:bodyPr wrap="none">
            <a:spAutoFit/>
          </a:bodyPr>
          <a:lstStyle/>
          <a:p>
            <a:r>
              <a:rPr sz="2400" b="1" dirty="0">
                <a:solidFill>
                  <a:srgbClr val="FFFFFF"/>
                </a:solidFill>
              </a:rPr>
              <a:t>Business Insights</a:t>
            </a:r>
          </a:p>
          <a:p>
            <a:endParaRPr sz="1000" dirty="0">
              <a:solidFill>
                <a:srgbClr val="C8CED6"/>
              </a:solidFill>
            </a:endParaRPr>
          </a:p>
        </p:txBody>
      </p:sp>
      <p:sp>
        <p:nvSpPr>
          <p:cNvPr id="4" name="TextBox 3"/>
          <p:cNvSpPr txBox="1"/>
          <p:nvPr/>
        </p:nvSpPr>
        <p:spPr>
          <a:xfrm>
            <a:off x="11384280" y="6446520"/>
            <a:ext cx="548640" cy="182880"/>
          </a:xfrm>
          <a:prstGeom prst="rect">
            <a:avLst/>
          </a:prstGeom>
          <a:noFill/>
        </p:spPr>
        <p:txBody>
          <a:bodyPr wrap="none">
            <a:spAutoFit/>
          </a:bodyPr>
          <a:lstStyle/>
          <a:p>
            <a:pPr algn="r"/>
            <a:r>
              <a:rPr sz="900">
                <a:solidFill>
                  <a:srgbClr val="5A626E"/>
                </a:solidFill>
              </a:rPr>
              <a:t>11</a:t>
            </a:r>
          </a:p>
        </p:txBody>
      </p:sp>
      <p:sp>
        <p:nvSpPr>
          <p:cNvPr id="6" name="Rectangle 5"/>
          <p:cNvSpPr/>
          <p:nvPr/>
        </p:nvSpPr>
        <p:spPr>
          <a:xfrm>
            <a:off x="0" y="6611112"/>
            <a:ext cx="12192000" cy="182880"/>
          </a:xfrm>
          <a:prstGeom prst="rect">
            <a:avLst/>
          </a:prstGeom>
          <a:solidFill>
            <a:srgbClr val="B43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27538" y="1097280"/>
            <a:ext cx="11039622" cy="5349240"/>
          </a:xfrm>
          <a:prstGeom prst="roundRect">
            <a:avLst/>
          </a:prstGeom>
          <a:solidFill>
            <a:srgbClr val="FFFFFF"/>
          </a:solidFill>
          <a:ln>
            <a:solidFill>
              <a:srgbClr val="C8CE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 y="670416"/>
            <a:ext cx="12191695" cy="262271"/>
          </a:xfrm>
          <a:prstGeom prst="rect">
            <a:avLst/>
          </a:prstGeom>
          <a:solidFill>
            <a:srgbClr val="228B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9353D52-6426-8F61-83C5-3B0D73E080B7}"/>
              </a:ext>
            </a:extLst>
          </p:cNvPr>
          <p:cNvSpPr txBox="1"/>
          <p:nvPr/>
        </p:nvSpPr>
        <p:spPr>
          <a:xfrm>
            <a:off x="1172308" y="1312985"/>
            <a:ext cx="9812215" cy="5078313"/>
          </a:xfrm>
          <a:prstGeom prst="rect">
            <a:avLst/>
          </a:prstGeom>
          <a:noFill/>
        </p:spPr>
        <p:txBody>
          <a:bodyPr wrap="square" rtlCol="0">
            <a:spAutoFit/>
          </a:bodyPr>
          <a:lstStyle/>
          <a:p>
            <a:r>
              <a:rPr lang="en-US" b="1" dirty="0"/>
              <a:t>Business Insights</a:t>
            </a:r>
          </a:p>
          <a:p>
            <a:r>
              <a:rPr lang="en-US" dirty="0"/>
              <a:t> </a:t>
            </a:r>
            <a:r>
              <a:rPr lang="en-US" b="1" dirty="0"/>
              <a:t>TCS emerged as the top-performing stock</a:t>
            </a:r>
            <a:r>
              <a:rPr lang="en-US" dirty="0"/>
              <a:t>, recording the highest average closing price (</a:t>
            </a:r>
            <a:r>
              <a:rPr lang="en-US" b="1" dirty="0"/>
              <a:t>3,791</a:t>
            </a:r>
            <a:r>
              <a:rPr lang="en-US" dirty="0"/>
              <a:t>), indicating strong market performance throughout 2024. </a:t>
            </a:r>
          </a:p>
          <a:p>
            <a:r>
              <a:rPr lang="en-US" b="1" dirty="0"/>
              <a:t>HDFC Bank contributed the highest trading volume</a:t>
            </a:r>
            <a:r>
              <a:rPr lang="en-US" dirty="0"/>
              <a:t>, accounting for nearly </a:t>
            </a:r>
            <a:r>
              <a:rPr lang="en-US" b="1" dirty="0"/>
              <a:t>52% of the total traded volume (20 Billion)</a:t>
            </a:r>
            <a:r>
              <a:rPr lang="en-US" dirty="0"/>
              <a:t>, reflecting high market liquidity and investor participation. </a:t>
            </a:r>
          </a:p>
          <a:p>
            <a:r>
              <a:rPr lang="en-US" b="1" dirty="0"/>
              <a:t>Wipro recorded the lowest average closing price (242)</a:t>
            </a:r>
            <a:r>
              <a:rPr lang="en-US" dirty="0"/>
              <a:t>, making it the weakest performer among the selected stocks. </a:t>
            </a:r>
          </a:p>
          <a:p>
            <a:r>
              <a:rPr lang="en-US" b="1" dirty="0"/>
              <a:t>The overall market showed an upward trend during the second half of 2024</a:t>
            </a:r>
            <a:r>
              <a:rPr lang="en-US" dirty="0"/>
              <a:t>, indicating improving investor confidence and positive market momentum. </a:t>
            </a:r>
          </a:p>
          <a:p>
            <a:r>
              <a:rPr lang="en-US" dirty="0"/>
              <a:t> </a:t>
            </a:r>
            <a:r>
              <a:rPr lang="en-US" b="1" dirty="0"/>
              <a:t>Reliance and Infosys maintained relatively stable price movements</a:t>
            </a:r>
            <a:r>
              <a:rPr lang="en-US" dirty="0"/>
              <a:t>, making them suitable choices for balanced investment portfolios. </a:t>
            </a:r>
          </a:p>
          <a:p>
            <a:r>
              <a:rPr lang="en-US" dirty="0"/>
              <a:t> </a:t>
            </a:r>
            <a:r>
              <a:rPr lang="en-US" b="1" dirty="0"/>
              <a:t>TCS achieved high stock prices despite comparatively lower trading volume</a:t>
            </a:r>
            <a:r>
              <a:rPr lang="en-US" dirty="0"/>
              <a:t>, demonstrating strong investor confidence and sustained demand. </a:t>
            </a:r>
          </a:p>
          <a:p>
            <a:r>
              <a:rPr lang="en-US" dirty="0"/>
              <a:t> </a:t>
            </a:r>
            <a:r>
              <a:rPr lang="en-US" b="1" dirty="0"/>
              <a:t>The dashboard enables easy comparison of stock prices, trading volume, and performance trends</a:t>
            </a:r>
            <a:r>
              <a:rPr lang="en-US" dirty="0"/>
              <a:t>, allowing users to quickly identify market leaders and underperforming stocks. </a:t>
            </a:r>
          </a:p>
          <a:p>
            <a:r>
              <a:rPr lang="en-US" b="1"/>
              <a:t>Monthly </a:t>
            </a:r>
            <a:r>
              <a:rPr lang="en-US" b="1" dirty="0"/>
              <a:t>trend analysis highlights stronger market performance in recent months</a:t>
            </a:r>
            <a:r>
              <a:rPr lang="en-US" dirty="0"/>
              <a:t>, supporting better timing for investment decisions.</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99</TotalTime>
  <Words>1251</Words>
  <Application>Microsoft Office PowerPoint</Application>
  <PresentationFormat>Widescreen</PresentationFormat>
  <Paragraphs>236</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hp</dc:creator>
  <cp:keywords/>
  <dc:description>generated using python-pptx</dc:description>
  <cp:lastModifiedBy>Aastha setia</cp:lastModifiedBy>
  <cp:revision>5</cp:revision>
  <dcterms:created xsi:type="dcterms:W3CDTF">2013-01-27T09:14:16Z</dcterms:created>
  <dcterms:modified xsi:type="dcterms:W3CDTF">2026-07-04T03:43:16Z</dcterms:modified>
  <cp:category/>
</cp:coreProperties>
</file>